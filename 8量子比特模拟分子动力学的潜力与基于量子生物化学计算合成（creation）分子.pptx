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2" y="2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552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science.org/doi/10.1126/sciadv.abj3906"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hlinkClick r:id="rId3"/>
              </a:rPr>
              <a:t>De novo creation of a naked eye–detectable fluorescent molecule based on quantum chemical computation and machine learning | Science Advances</a:t>
            </a:r>
            <a:endParaRPr lang="zh-CN" altLang="en-US"/>
          </a:p>
        </p:txBody>
      </p:sp>
      <p:sp>
        <p:nvSpPr>
          <p:cNvPr id="4" name="灯片编号占位符 3"/>
          <p:cNvSpPr>
            <a:spLocks noGrp="1"/>
          </p:cNvSpPr>
          <p:nvPr>
            <p:ph type="sldNum" sz="quarter" idx="5"/>
          </p:nvPr>
        </p:nvSpPr>
        <p:spPr/>
        <p:txBody>
          <a:bodyPr/>
          <a:lstStyle/>
          <a:p>
            <a:fld id="{2C0FE118-6CC3-4359-A358-5094C3C521D8}" type="slidenum">
              <a:rPr lang="zh-CN" altLang="en-US" smtClean="0"/>
              <a:t>12</a:t>
            </a:fld>
            <a:endParaRPr lang="zh-CN" altLang="en-US"/>
          </a:p>
        </p:txBody>
      </p:sp>
    </p:spTree>
    <p:extLst>
      <p:ext uri="{BB962C8B-B14F-4D97-AF65-F5344CB8AC3E}">
        <p14:creationId xmlns:p14="http://schemas.microsoft.com/office/powerpoint/2010/main" val="3668934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63C37-A655-4CA0-87BE-8D1329407FB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2C7C245-DB9B-4CB5-969E-532BC7B941E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7165ECC-FB3C-4FDE-B1FC-B98035CC5FE3}"/>
              </a:ext>
            </a:extLst>
          </p:cNvPr>
          <p:cNvSpPr>
            <a:spLocks noGrp="1"/>
          </p:cNvSpPr>
          <p:nvPr>
            <p:ph type="dt" sz="half" idx="10"/>
          </p:nvPr>
        </p:nvSpPr>
        <p:spPr/>
        <p:txBody>
          <a:bodyPr/>
          <a:lstStyle/>
          <a:p>
            <a:fld id="{5CBDB507-02D9-41DE-A74B-168B2A2B0301}" type="datetimeFigureOut">
              <a:rPr lang="zh-CN" altLang="en-US" smtClean="0"/>
              <a:t>2026/7/15</a:t>
            </a:fld>
            <a:endParaRPr lang="zh-CN" altLang="en-US"/>
          </a:p>
        </p:txBody>
      </p:sp>
      <p:sp>
        <p:nvSpPr>
          <p:cNvPr id="5" name="页脚占位符 4">
            <a:extLst>
              <a:ext uri="{FF2B5EF4-FFF2-40B4-BE49-F238E27FC236}">
                <a16:creationId xmlns:a16="http://schemas.microsoft.com/office/drawing/2014/main" id="{39BF3478-A963-4853-AD3D-027F066ECB9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B725CE-EA92-4D0F-BD73-9B8992AA52F4}"/>
              </a:ext>
            </a:extLst>
          </p:cNvPr>
          <p:cNvSpPr>
            <a:spLocks noGrp="1"/>
          </p:cNvSpPr>
          <p:nvPr>
            <p:ph type="sldNum" sz="quarter" idx="12"/>
          </p:nvPr>
        </p:nvSpPr>
        <p:spPr/>
        <p:txBody>
          <a:bodyPr/>
          <a:lstStyle/>
          <a:p>
            <a:fld id="{C76A5C91-29CD-4EFF-8C0A-3284D69A3942}" type="slidenum">
              <a:rPr lang="zh-CN" altLang="en-US" smtClean="0"/>
              <a:t>‹#›</a:t>
            </a:fld>
            <a:endParaRPr lang="zh-CN" altLang="en-US"/>
          </a:p>
        </p:txBody>
      </p:sp>
    </p:spTree>
    <p:extLst>
      <p:ext uri="{BB962C8B-B14F-4D97-AF65-F5344CB8AC3E}">
        <p14:creationId xmlns:p14="http://schemas.microsoft.com/office/powerpoint/2010/main" val="26499974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5.png"/><Relationship Id="rId11" Type="http://schemas.openxmlformats.org/officeDocument/2006/relationships/image" Target="../media/image80.png"/><Relationship Id="rId5" Type="http://schemas.openxmlformats.org/officeDocument/2006/relationships/image" Target="../media/image7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s>
</file>

<file path=ppt/slides/_rels/slide11.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1.png"/><Relationship Id="rId7" Type="http://schemas.openxmlformats.org/officeDocument/2006/relationships/image" Target="../media/image8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83.png"/><Relationship Id="rId4" Type="http://schemas.openxmlformats.org/officeDocument/2006/relationships/image" Target="../media/image82.png"/></Relationships>
</file>

<file path=ppt/slides/_rels/slide1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10" Type="http://schemas.openxmlformats.org/officeDocument/2006/relationships/image" Target="../media/image94.png"/><Relationship Id="rId4" Type="http://schemas.openxmlformats.org/officeDocument/2006/relationships/image" Target="../media/image88.png"/><Relationship Id="rId9" Type="http://schemas.openxmlformats.org/officeDocument/2006/relationships/image" Target="../media/image93.png"/></Relationships>
</file>

<file path=ppt/slides/_rels/slide14.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5.png"/><Relationship Id="rId18" Type="http://schemas.openxmlformats.org/officeDocument/2006/relationships/image" Target="../media/image110.png"/><Relationship Id="rId3" Type="http://schemas.openxmlformats.org/officeDocument/2006/relationships/image" Target="../media/image95.png"/><Relationship Id="rId7" Type="http://schemas.openxmlformats.org/officeDocument/2006/relationships/image" Target="../media/image99.png"/><Relationship Id="rId12" Type="http://schemas.openxmlformats.org/officeDocument/2006/relationships/image" Target="../media/image104.png"/><Relationship Id="rId17" Type="http://schemas.openxmlformats.org/officeDocument/2006/relationships/image" Target="../media/image109.png"/><Relationship Id="rId2" Type="http://schemas.openxmlformats.org/officeDocument/2006/relationships/notesSlide" Target="../notesSlides/notesSlide14.xml"/><Relationship Id="rId16" Type="http://schemas.openxmlformats.org/officeDocument/2006/relationships/image" Target="../media/image108.png"/><Relationship Id="rId1" Type="http://schemas.openxmlformats.org/officeDocument/2006/relationships/slideLayout" Target="../slideLayouts/slideLayout1.xml"/><Relationship Id="rId6" Type="http://schemas.openxmlformats.org/officeDocument/2006/relationships/image" Target="../media/image98.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107.png"/><Relationship Id="rId10" Type="http://schemas.openxmlformats.org/officeDocument/2006/relationships/image" Target="../media/image102.png"/><Relationship Id="rId4" Type="http://schemas.openxmlformats.org/officeDocument/2006/relationships/image" Target="../media/image96.png"/><Relationship Id="rId9" Type="http://schemas.openxmlformats.org/officeDocument/2006/relationships/image" Target="../media/image101.png"/><Relationship Id="rId14" Type="http://schemas.openxmlformats.org/officeDocument/2006/relationships/image" Target="../media/image106.png"/></Relationships>
</file>

<file path=ppt/slides/_rels/slide1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pic>
        <p:nvPicPr>
          <p:cNvPr id="4" name="Image 2" descr="preencoded.png"/>
          <p:cNvPicPr>
            <a:picLocks noChangeAspect="1"/>
          </p:cNvPicPr>
          <p:nvPr/>
        </p:nvPicPr>
        <p:blipFill>
          <a:blip r:embed="rId5"/>
          <a:stretch>
            <a:fillRect/>
          </a:stretch>
        </p:blipFill>
        <p:spPr>
          <a:xfrm>
            <a:off x="914377" y="1323942"/>
            <a:ext cx="914377" cy="19050"/>
          </a:xfrm>
          <a:prstGeom prst="rect">
            <a:avLst/>
          </a:prstGeom>
        </p:spPr>
      </p:pic>
      <p:sp>
        <p:nvSpPr>
          <p:cNvPr id="5" name="Text 0"/>
          <p:cNvSpPr/>
          <p:nvPr/>
        </p:nvSpPr>
        <p:spPr>
          <a:xfrm>
            <a:off x="1981150" y="1257269"/>
            <a:ext cx="2523681" cy="152396"/>
          </a:xfrm>
          <a:prstGeom prst="rect">
            <a:avLst/>
          </a:prstGeom>
          <a:noFill/>
          <a:ln/>
        </p:spPr>
        <p:txBody>
          <a:bodyPr wrap="none" lIns="0" tIns="0" rIns="0" bIns="0" rtlCol="0" anchor="ctr"/>
          <a:lstStyle/>
          <a:p>
            <a:pPr marL="0" indent="0" algn="l">
              <a:buNone/>
            </a:pPr>
            <a:r>
              <a:rPr lang="en-US" sz="900" dirty="0">
                <a:solidFill>
                  <a:srgbClr val="64748B"/>
                </a:solidFill>
                <a:latin typeface="Arial" pitchFamily="34" charset="0"/>
                <a:ea typeface="Arial" pitchFamily="34" charset="-122"/>
                <a:cs typeface="Arial" pitchFamily="34" charset="-120"/>
              </a:rPr>
              <a:t>Quantum Computing Research</a:t>
            </a:r>
            <a:endParaRPr lang="en-US" sz="900" dirty="0"/>
          </a:p>
        </p:txBody>
      </p:sp>
      <p:sp>
        <p:nvSpPr>
          <p:cNvPr id="6" name="Text 1"/>
          <p:cNvSpPr/>
          <p:nvPr/>
        </p:nvSpPr>
        <p:spPr>
          <a:xfrm>
            <a:off x="914377" y="1866853"/>
            <a:ext cx="10676877" cy="1028674"/>
          </a:xfrm>
          <a:prstGeom prst="rect">
            <a:avLst/>
          </a:prstGeom>
          <a:noFill/>
          <a:ln/>
        </p:spPr>
        <p:txBody>
          <a:bodyPr wrap="none" lIns="0" tIns="0" rIns="0" bIns="0" rtlCol="0" anchor="ctr"/>
          <a:lstStyle/>
          <a:p>
            <a:pPr marL="0" indent="0" algn="l">
              <a:buNone/>
            </a:pPr>
            <a:r>
              <a:rPr lang="en-US" sz="9000" b="1" dirty="0">
                <a:solidFill>
                  <a:srgbClr val="4338CA"/>
                </a:solidFill>
                <a:latin typeface="Arial" pitchFamily="34" charset="0"/>
                <a:ea typeface="Arial" pitchFamily="34" charset="-122"/>
                <a:cs typeface="Arial" pitchFamily="34" charset="-120"/>
              </a:rPr>
              <a:t>8</a:t>
            </a:r>
            <a:endParaRPr lang="en-US" sz="9000" dirty="0"/>
          </a:p>
        </p:txBody>
      </p:sp>
      <p:sp>
        <p:nvSpPr>
          <p:cNvPr id="7" name="Text 2"/>
          <p:cNvSpPr/>
          <p:nvPr/>
        </p:nvSpPr>
        <p:spPr>
          <a:xfrm>
            <a:off x="914377" y="2971726"/>
            <a:ext cx="10676877" cy="485763"/>
          </a:xfrm>
          <a:prstGeom prst="rect">
            <a:avLst/>
          </a:prstGeom>
          <a:noFill/>
          <a:ln/>
        </p:spPr>
        <p:txBody>
          <a:bodyPr wrap="none" lIns="0" tIns="0" rIns="0" bIns="0" rtlCol="0" anchor="ctr"/>
          <a:lstStyle/>
          <a:p>
            <a:pPr marL="0" indent="0" algn="l">
              <a:buNone/>
            </a:pPr>
            <a:r>
              <a:rPr lang="en-US" sz="4200" b="1" dirty="0">
                <a:solidFill>
                  <a:srgbClr val="0F172A"/>
                </a:solidFill>
                <a:latin typeface="Arial" pitchFamily="34" charset="0"/>
                <a:ea typeface="Arial" pitchFamily="34" charset="-122"/>
                <a:cs typeface="Arial" pitchFamily="34" charset="-120"/>
              </a:rPr>
              <a:t>量子比特生物分子模拟</a:t>
            </a:r>
            <a:endParaRPr lang="en-US" sz="4200" dirty="0"/>
          </a:p>
        </p:txBody>
      </p:sp>
      <p:sp>
        <p:nvSpPr>
          <p:cNvPr id="8" name="Text 3"/>
          <p:cNvSpPr/>
          <p:nvPr/>
        </p:nvSpPr>
        <p:spPr>
          <a:xfrm>
            <a:off x="914377" y="3752756"/>
            <a:ext cx="6409784" cy="742931"/>
          </a:xfrm>
          <a:prstGeom prst="rect">
            <a:avLst/>
          </a:prstGeom>
          <a:noFill/>
          <a:ln/>
        </p:spPr>
        <p:txBody>
          <a:bodyPr wrap="square" lIns="0" tIns="0" rIns="0" bIns="0" rtlCol="0" anchor="ctr"/>
          <a:lstStyle/>
          <a:p>
            <a:pPr marL="0" indent="0" algn="l">
              <a:buNone/>
            </a:pPr>
            <a:r>
              <a:rPr lang="en-US" sz="1800" dirty="0">
                <a:solidFill>
                  <a:srgbClr val="475569"/>
                </a:solidFill>
                <a:latin typeface="Arial" pitchFamily="34" charset="0"/>
                <a:ea typeface="Arial" pitchFamily="34" charset="-122"/>
                <a:cs typeface="Arial" pitchFamily="34" charset="-120"/>
              </a:rPr>
              <a:t>Quantum Simulation of Biomolecular Systems with Eight-Qubit Architecture</a:t>
            </a:r>
            <a:endParaRPr lang="en-US" sz="1800" dirty="0"/>
          </a:p>
        </p:txBody>
      </p:sp>
      <p:pic>
        <p:nvPicPr>
          <p:cNvPr id="9" name="Image 3" descr="preencoded.png"/>
          <p:cNvPicPr>
            <a:picLocks noChangeAspect="1"/>
          </p:cNvPicPr>
          <p:nvPr/>
        </p:nvPicPr>
        <p:blipFill>
          <a:blip r:embed="rId6"/>
          <a:stretch>
            <a:fillRect/>
          </a:stretch>
        </p:blipFill>
        <p:spPr>
          <a:xfrm>
            <a:off x="914377" y="5105272"/>
            <a:ext cx="7315017" cy="504812"/>
          </a:xfrm>
          <a:prstGeom prst="rect">
            <a:avLst/>
          </a:prstGeom>
        </p:spPr>
      </p:pic>
      <p:pic>
        <p:nvPicPr>
          <p:cNvPr id="10" name="Image 4" descr="preencoded.png"/>
          <p:cNvPicPr>
            <a:picLocks noChangeAspect="1"/>
          </p:cNvPicPr>
          <p:nvPr/>
        </p:nvPicPr>
        <p:blipFill>
          <a:blip r:embed="rId7"/>
          <a:stretch>
            <a:fillRect/>
          </a:stretch>
        </p:blipFill>
        <p:spPr>
          <a:xfrm>
            <a:off x="914377" y="5448164"/>
            <a:ext cx="133347" cy="133347"/>
          </a:xfrm>
          <a:prstGeom prst="rect">
            <a:avLst/>
          </a:prstGeom>
        </p:spPr>
      </p:pic>
      <p:sp>
        <p:nvSpPr>
          <p:cNvPr id="11" name="Text 4"/>
          <p:cNvSpPr/>
          <p:nvPr/>
        </p:nvSpPr>
        <p:spPr>
          <a:xfrm>
            <a:off x="1162021" y="5419590"/>
            <a:ext cx="971145" cy="190495"/>
          </a:xfrm>
          <a:prstGeom prst="rect">
            <a:avLst/>
          </a:prstGeom>
          <a:noFill/>
          <a:ln/>
        </p:spPr>
        <p:txBody>
          <a:bodyPr wrap="none" lIns="0" tIns="0" rIns="0" bIns="0" rtlCol="0" anchor="ctr"/>
          <a:lstStyle/>
          <a:p>
            <a:pPr marL="0" indent="0" algn="l">
              <a:buNone/>
            </a:pPr>
            <a:r>
              <a:rPr lang="en-US" sz="1050" dirty="0" err="1">
                <a:solidFill>
                  <a:srgbClr val="475569"/>
                </a:solidFill>
                <a:latin typeface="Arial" pitchFamily="34" charset="0"/>
                <a:ea typeface="Arial" pitchFamily="34" charset="-122"/>
                <a:cs typeface="Arial" pitchFamily="34" charset="-120"/>
              </a:rPr>
              <a:t>计算化学</a:t>
            </a:r>
            <a:r>
              <a:rPr lang="zh-CN" altLang="en-US" sz="1050">
                <a:solidFill>
                  <a:srgbClr val="475569"/>
                </a:solidFill>
                <a:latin typeface="Arial" pitchFamily="34" charset="0"/>
                <a:ea typeface="Arial" pitchFamily="34" charset="-122"/>
                <a:cs typeface="Arial" pitchFamily="34" charset="-120"/>
              </a:rPr>
              <a:t>与计算生物学</a:t>
            </a:r>
            <a:endParaRPr lang="en-US" sz="1050" dirty="0"/>
          </a:p>
        </p:txBody>
      </p:sp>
      <p:pic>
        <p:nvPicPr>
          <p:cNvPr id="12" name="Image 5" descr="preencoded.png"/>
          <p:cNvPicPr>
            <a:picLocks noChangeAspect="1"/>
          </p:cNvPicPr>
          <p:nvPr/>
        </p:nvPicPr>
        <p:blipFill>
          <a:blip r:embed="rId8"/>
          <a:stretch>
            <a:fillRect/>
          </a:stretch>
        </p:blipFill>
        <p:spPr>
          <a:xfrm>
            <a:off x="2428814" y="5438639"/>
            <a:ext cx="9525" cy="152396"/>
          </a:xfrm>
          <a:prstGeom prst="rect">
            <a:avLst/>
          </a:prstGeom>
        </p:spPr>
      </p:pic>
      <p:pic>
        <p:nvPicPr>
          <p:cNvPr id="13" name="Image 6" descr="preencoded.png"/>
          <p:cNvPicPr>
            <a:picLocks noChangeAspect="1"/>
          </p:cNvPicPr>
          <p:nvPr/>
        </p:nvPicPr>
        <p:blipFill>
          <a:blip r:embed="rId9"/>
          <a:stretch>
            <a:fillRect/>
          </a:stretch>
        </p:blipFill>
        <p:spPr>
          <a:xfrm>
            <a:off x="2743131" y="5448164"/>
            <a:ext cx="123822" cy="133347"/>
          </a:xfrm>
          <a:prstGeom prst="rect">
            <a:avLst/>
          </a:prstGeom>
        </p:spPr>
      </p:pic>
      <p:sp>
        <p:nvSpPr>
          <p:cNvPr id="14" name="Text 5"/>
          <p:cNvSpPr/>
          <p:nvPr/>
        </p:nvSpPr>
        <p:spPr>
          <a:xfrm>
            <a:off x="2971726" y="5419590"/>
            <a:ext cx="647303" cy="190495"/>
          </a:xfrm>
          <a:prstGeom prst="rect">
            <a:avLst/>
          </a:prstGeom>
          <a:noFill/>
          <a:ln/>
        </p:spPr>
        <p:txBody>
          <a:bodyPr wrap="none" lIns="0" tIns="0" rIns="0" bIns="0" rtlCol="0" anchor="ctr"/>
          <a:lstStyle/>
          <a:p>
            <a:pPr marL="0" indent="0" algn="l">
              <a:buNone/>
            </a:pPr>
            <a:r>
              <a:rPr lang="en-US" sz="1050" dirty="0">
                <a:solidFill>
                  <a:srgbClr val="475569"/>
                </a:solidFill>
                <a:latin typeface="Arial" pitchFamily="34" charset="0"/>
                <a:ea typeface="Arial" pitchFamily="34" charset="-122"/>
                <a:cs typeface="Arial" pitchFamily="34" charset="-120"/>
              </a:rPr>
              <a:t>2026.06.18</a:t>
            </a:r>
            <a:endParaRPr lang="en-US" sz="1050" dirty="0"/>
          </a:p>
        </p:txBody>
      </p:sp>
      <p:pic>
        <p:nvPicPr>
          <p:cNvPr id="15" name="Image 7" descr="preencoded.png"/>
          <p:cNvPicPr>
            <a:picLocks noChangeAspect="1"/>
          </p:cNvPicPr>
          <p:nvPr/>
        </p:nvPicPr>
        <p:blipFill>
          <a:blip r:embed="rId8"/>
          <a:stretch>
            <a:fillRect/>
          </a:stretch>
        </p:blipFill>
        <p:spPr>
          <a:xfrm>
            <a:off x="3914677" y="5438639"/>
            <a:ext cx="9525" cy="152396"/>
          </a:xfrm>
          <a:prstGeom prst="rect">
            <a:avLst/>
          </a:prstGeom>
        </p:spPr>
      </p:pic>
      <p:pic>
        <p:nvPicPr>
          <p:cNvPr id="16" name="Image 8" descr="preencoded.png"/>
          <p:cNvPicPr>
            <a:picLocks noChangeAspect="1"/>
          </p:cNvPicPr>
          <p:nvPr/>
        </p:nvPicPr>
        <p:blipFill>
          <a:blip r:embed="rId10"/>
          <a:stretch>
            <a:fillRect/>
          </a:stretch>
        </p:blipFill>
        <p:spPr>
          <a:xfrm>
            <a:off x="4228994" y="5448164"/>
            <a:ext cx="133347" cy="133347"/>
          </a:xfrm>
          <a:prstGeom prst="rect">
            <a:avLst/>
          </a:prstGeom>
        </p:spPr>
      </p:pic>
      <p:sp>
        <p:nvSpPr>
          <p:cNvPr id="17" name="Text 6"/>
          <p:cNvSpPr/>
          <p:nvPr/>
        </p:nvSpPr>
        <p:spPr>
          <a:xfrm>
            <a:off x="4476638" y="5419590"/>
            <a:ext cx="1323561" cy="190495"/>
          </a:xfrm>
          <a:prstGeom prst="rect">
            <a:avLst/>
          </a:prstGeom>
          <a:noFill/>
          <a:ln/>
        </p:spPr>
        <p:txBody>
          <a:bodyPr wrap="none" lIns="0" tIns="0" rIns="0" bIns="0" rtlCol="0" anchor="ctr"/>
          <a:lstStyle/>
          <a:p>
            <a:pPr marL="0" indent="0" algn="l">
              <a:buNone/>
            </a:pPr>
            <a:r>
              <a:rPr lang="en-US" sz="1050" dirty="0">
                <a:solidFill>
                  <a:srgbClr val="475569"/>
                </a:solidFill>
                <a:latin typeface="Arial" pitchFamily="34" charset="0"/>
                <a:ea typeface="Arial" pitchFamily="34" charset="-122"/>
                <a:cs typeface="Arial" pitchFamily="34" charset="-120"/>
              </a:rPr>
              <a:t>NISQ Era Applications</a:t>
            </a:r>
            <a:endParaRPr lang="en-US" sz="1050" dirty="0"/>
          </a:p>
        </p:txBody>
      </p:sp>
      <p:pic>
        <p:nvPicPr>
          <p:cNvPr id="18" name="Image 9" descr="preencoded.png"/>
          <p:cNvPicPr>
            <a:picLocks noChangeAspect="1"/>
          </p:cNvPicPr>
          <p:nvPr/>
        </p:nvPicPr>
        <p:blipFill>
          <a:blip r:embed="rId11">
            <a:alphaModFix amt="10000"/>
          </a:blip>
          <a:stretch>
            <a:fillRect/>
          </a:stretch>
        </p:blipFill>
        <p:spPr>
          <a:xfrm>
            <a:off x="10267693" y="4933827"/>
            <a:ext cx="1733507" cy="17335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pic>
        <p:nvPicPr>
          <p:cNvPr id="4" name="Image 2" descr="preencoded.png"/>
          <p:cNvPicPr>
            <a:picLocks noChangeAspect="1"/>
          </p:cNvPicPr>
          <p:nvPr/>
        </p:nvPicPr>
        <p:blipFill>
          <a:blip r:embed="rId5"/>
          <a:stretch>
            <a:fillRect/>
          </a:stretch>
        </p:blipFill>
        <p:spPr>
          <a:xfrm>
            <a:off x="914377" y="1533487"/>
            <a:ext cx="609585" cy="19050"/>
          </a:xfrm>
          <a:prstGeom prst="rect">
            <a:avLst/>
          </a:prstGeom>
        </p:spPr>
      </p:pic>
      <p:sp>
        <p:nvSpPr>
          <p:cNvPr id="5" name="Text 0"/>
          <p:cNvSpPr/>
          <p:nvPr/>
        </p:nvSpPr>
        <p:spPr>
          <a:xfrm>
            <a:off x="1676358" y="1466813"/>
            <a:ext cx="790174" cy="152396"/>
          </a:xfrm>
          <a:prstGeom prst="rect">
            <a:avLst/>
          </a:prstGeom>
          <a:noFill/>
          <a:ln/>
        </p:spPr>
        <p:txBody>
          <a:bodyPr wrap="none" lIns="0" tIns="0" rIns="0" bIns="0" rtlCol="0" anchor="ctr"/>
          <a:lstStyle/>
          <a:p>
            <a:pPr marL="0" indent="0" algn="l">
              <a:buNone/>
            </a:pPr>
            <a:r>
              <a:rPr lang="en-US" sz="900" dirty="0">
                <a:solidFill>
                  <a:srgbClr val="64748B"/>
                </a:solidFill>
                <a:latin typeface="Arial" pitchFamily="34" charset="0"/>
                <a:ea typeface="Arial" pitchFamily="34" charset="-122"/>
                <a:cs typeface="Arial" pitchFamily="34" charset="-120"/>
              </a:rPr>
              <a:t>Contents</a:t>
            </a:r>
            <a:endParaRPr lang="en-US" sz="900" dirty="0"/>
          </a:p>
        </p:txBody>
      </p:sp>
      <p:sp>
        <p:nvSpPr>
          <p:cNvPr id="6" name="Text 1"/>
          <p:cNvSpPr/>
          <p:nvPr/>
        </p:nvSpPr>
        <p:spPr>
          <a:xfrm>
            <a:off x="914377" y="1924002"/>
            <a:ext cx="10676877"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目录</a:t>
            </a:r>
            <a:endParaRPr lang="en-US" sz="3000" dirty="0"/>
          </a:p>
        </p:txBody>
      </p:sp>
      <p:pic>
        <p:nvPicPr>
          <p:cNvPr id="7" name="Image 3" descr="preencoded.png"/>
          <p:cNvPicPr>
            <a:picLocks noChangeAspect="1"/>
          </p:cNvPicPr>
          <p:nvPr/>
        </p:nvPicPr>
        <p:blipFill>
          <a:blip r:embed="rId6"/>
          <a:stretch>
            <a:fillRect/>
          </a:stretch>
        </p:blipFill>
        <p:spPr>
          <a:xfrm>
            <a:off x="914377" y="2952676"/>
            <a:ext cx="4648084" cy="1066773"/>
          </a:xfrm>
          <a:prstGeom prst="rect">
            <a:avLst/>
          </a:prstGeom>
        </p:spPr>
      </p:pic>
      <p:sp>
        <p:nvSpPr>
          <p:cNvPr id="8" name="Text 2"/>
          <p:cNvSpPr/>
          <p:nvPr/>
        </p:nvSpPr>
        <p:spPr>
          <a:xfrm>
            <a:off x="1152496" y="3190795"/>
            <a:ext cx="294887" cy="590535"/>
          </a:xfrm>
          <a:prstGeom prst="rect">
            <a:avLst/>
          </a:prstGeom>
          <a:noFill/>
          <a:ln/>
        </p:spPr>
        <p:txBody>
          <a:bodyPr wrap="squar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01</a:t>
            </a:r>
            <a:endParaRPr lang="en-US" sz="2250" dirty="0"/>
          </a:p>
        </p:txBody>
      </p:sp>
      <p:sp>
        <p:nvSpPr>
          <p:cNvPr id="9" name="Text 3"/>
          <p:cNvSpPr/>
          <p:nvPr/>
        </p:nvSpPr>
        <p:spPr>
          <a:xfrm>
            <a:off x="1590635" y="3190795"/>
            <a:ext cx="1590254" cy="266693"/>
          </a:xfrm>
          <a:prstGeom prst="rect">
            <a:avLst/>
          </a:prstGeom>
          <a:noFill/>
          <a:ln/>
        </p:spPr>
        <p:txBody>
          <a:bodyPr wrap="none" lIns="0" tIns="0" rIns="0" bIns="0" rtlCol="0" anchor="ctr"/>
          <a:lstStyle/>
          <a:p>
            <a:pPr marL="0" indent="0" algn="l">
              <a:buNone/>
            </a:pPr>
            <a:r>
              <a:rPr lang="en-US" sz="1500" dirty="0">
                <a:solidFill>
                  <a:srgbClr val="0F172A"/>
                </a:solidFill>
                <a:latin typeface="Arial" pitchFamily="34" charset="0"/>
                <a:ea typeface="Arial" pitchFamily="34" charset="-122"/>
                <a:cs typeface="Arial" pitchFamily="34" charset="-120"/>
              </a:rPr>
              <a:t>技术原理</a:t>
            </a:r>
            <a:endParaRPr lang="en-US" sz="1500" dirty="0"/>
          </a:p>
        </p:txBody>
      </p:sp>
      <p:sp>
        <p:nvSpPr>
          <p:cNvPr id="10" name="Text 4"/>
          <p:cNvSpPr/>
          <p:nvPr/>
        </p:nvSpPr>
        <p:spPr>
          <a:xfrm>
            <a:off x="1590635" y="3533687"/>
            <a:ext cx="1590254"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量子-机器学习协同框架</a:t>
            </a:r>
            <a:endParaRPr lang="en-US" sz="1200" dirty="0"/>
          </a:p>
        </p:txBody>
      </p:sp>
      <p:pic>
        <p:nvPicPr>
          <p:cNvPr id="11" name="Image 4" descr="preencoded.png"/>
          <p:cNvPicPr>
            <a:picLocks noChangeAspect="1"/>
          </p:cNvPicPr>
          <p:nvPr/>
        </p:nvPicPr>
        <p:blipFill>
          <a:blip r:embed="rId6"/>
          <a:stretch>
            <a:fillRect/>
          </a:stretch>
        </p:blipFill>
        <p:spPr>
          <a:xfrm>
            <a:off x="6019650" y="2952676"/>
            <a:ext cx="4648084" cy="1066773"/>
          </a:xfrm>
          <a:prstGeom prst="rect">
            <a:avLst/>
          </a:prstGeom>
        </p:spPr>
      </p:pic>
      <p:sp>
        <p:nvSpPr>
          <p:cNvPr id="12" name="Text 5"/>
          <p:cNvSpPr/>
          <p:nvPr/>
        </p:nvSpPr>
        <p:spPr>
          <a:xfrm>
            <a:off x="6257769" y="3190795"/>
            <a:ext cx="294887" cy="590535"/>
          </a:xfrm>
          <a:prstGeom prst="rect">
            <a:avLst/>
          </a:prstGeom>
          <a:noFill/>
          <a:ln/>
        </p:spPr>
        <p:txBody>
          <a:bodyPr wrap="squar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02</a:t>
            </a:r>
            <a:endParaRPr lang="en-US" sz="2250" dirty="0"/>
          </a:p>
        </p:txBody>
      </p:sp>
      <p:sp>
        <p:nvSpPr>
          <p:cNvPr id="13" name="Text 6"/>
          <p:cNvSpPr/>
          <p:nvPr/>
        </p:nvSpPr>
        <p:spPr>
          <a:xfrm>
            <a:off x="6695908" y="3190795"/>
            <a:ext cx="1914096" cy="266693"/>
          </a:xfrm>
          <a:prstGeom prst="rect">
            <a:avLst/>
          </a:prstGeom>
          <a:noFill/>
          <a:ln/>
        </p:spPr>
        <p:txBody>
          <a:bodyPr wrap="none" lIns="0" tIns="0" rIns="0" bIns="0" rtlCol="0" anchor="ctr"/>
          <a:lstStyle/>
          <a:p>
            <a:pPr marL="0" indent="0" algn="l">
              <a:buNone/>
            </a:pPr>
            <a:r>
              <a:rPr lang="en-US" sz="1500" dirty="0">
                <a:solidFill>
                  <a:srgbClr val="0F172A"/>
                </a:solidFill>
                <a:latin typeface="Arial" pitchFamily="34" charset="0"/>
                <a:ea typeface="Arial" pitchFamily="34" charset="-122"/>
                <a:cs typeface="Arial" pitchFamily="34" charset="-120"/>
              </a:rPr>
              <a:t>能力边界</a:t>
            </a:r>
            <a:endParaRPr lang="en-US" sz="1500" dirty="0"/>
          </a:p>
        </p:txBody>
      </p:sp>
      <p:sp>
        <p:nvSpPr>
          <p:cNvPr id="14" name="Text 7"/>
          <p:cNvSpPr/>
          <p:nvPr/>
        </p:nvSpPr>
        <p:spPr>
          <a:xfrm>
            <a:off x="6695908" y="3533687"/>
            <a:ext cx="1914096"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8量子比特系统的突破与局限</a:t>
            </a:r>
            <a:endParaRPr lang="en-US" sz="1200" dirty="0"/>
          </a:p>
        </p:txBody>
      </p:sp>
      <p:pic>
        <p:nvPicPr>
          <p:cNvPr id="15" name="Image 5" descr="preencoded.png"/>
          <p:cNvPicPr>
            <a:picLocks noChangeAspect="1"/>
          </p:cNvPicPr>
          <p:nvPr/>
        </p:nvPicPr>
        <p:blipFill>
          <a:blip r:embed="rId6"/>
          <a:stretch>
            <a:fillRect/>
          </a:stretch>
        </p:blipFill>
        <p:spPr>
          <a:xfrm>
            <a:off x="914377" y="4324242"/>
            <a:ext cx="4648084" cy="1066773"/>
          </a:xfrm>
          <a:prstGeom prst="rect">
            <a:avLst/>
          </a:prstGeom>
        </p:spPr>
      </p:pic>
      <p:sp>
        <p:nvSpPr>
          <p:cNvPr id="16" name="Text 8"/>
          <p:cNvSpPr/>
          <p:nvPr/>
        </p:nvSpPr>
        <p:spPr>
          <a:xfrm>
            <a:off x="1152496" y="4562361"/>
            <a:ext cx="294887" cy="590535"/>
          </a:xfrm>
          <a:prstGeom prst="rect">
            <a:avLst/>
          </a:prstGeom>
          <a:noFill/>
          <a:ln/>
        </p:spPr>
        <p:txBody>
          <a:bodyPr wrap="squar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03</a:t>
            </a:r>
            <a:endParaRPr lang="en-US" sz="2250" dirty="0"/>
          </a:p>
        </p:txBody>
      </p:sp>
      <p:sp>
        <p:nvSpPr>
          <p:cNvPr id="17" name="Text 9"/>
          <p:cNvSpPr/>
          <p:nvPr/>
        </p:nvSpPr>
        <p:spPr>
          <a:xfrm>
            <a:off x="1590635" y="4562361"/>
            <a:ext cx="1990294" cy="266693"/>
          </a:xfrm>
          <a:prstGeom prst="rect">
            <a:avLst/>
          </a:prstGeom>
          <a:noFill/>
          <a:ln/>
        </p:spPr>
        <p:txBody>
          <a:bodyPr wrap="none" lIns="0" tIns="0" rIns="0" bIns="0" rtlCol="0" anchor="ctr"/>
          <a:lstStyle/>
          <a:p>
            <a:pPr marL="0" indent="0" algn="l">
              <a:buNone/>
            </a:pPr>
            <a:r>
              <a:rPr lang="en-US" sz="1500" dirty="0">
                <a:solidFill>
                  <a:srgbClr val="0F172A"/>
                </a:solidFill>
                <a:latin typeface="Arial" pitchFamily="34" charset="0"/>
                <a:ea typeface="Arial" pitchFamily="34" charset="-122"/>
                <a:cs typeface="Arial" pitchFamily="34" charset="-120"/>
              </a:rPr>
              <a:t>应用场景</a:t>
            </a:r>
            <a:endParaRPr lang="en-US" sz="1500" dirty="0"/>
          </a:p>
        </p:txBody>
      </p:sp>
      <p:sp>
        <p:nvSpPr>
          <p:cNvPr id="18" name="Text 10"/>
          <p:cNvSpPr/>
          <p:nvPr/>
        </p:nvSpPr>
        <p:spPr>
          <a:xfrm>
            <a:off x="1590635" y="4905252"/>
            <a:ext cx="1990294"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肿瘤学微重力环境的分子模拟</a:t>
            </a:r>
            <a:endParaRPr lang="en-US" sz="1200" dirty="0"/>
          </a:p>
        </p:txBody>
      </p:sp>
      <p:pic>
        <p:nvPicPr>
          <p:cNvPr id="19" name="Image 6" descr="preencoded.png"/>
          <p:cNvPicPr>
            <a:picLocks noChangeAspect="1"/>
          </p:cNvPicPr>
          <p:nvPr/>
        </p:nvPicPr>
        <p:blipFill>
          <a:blip r:embed="rId6"/>
          <a:stretch>
            <a:fillRect/>
          </a:stretch>
        </p:blipFill>
        <p:spPr>
          <a:xfrm>
            <a:off x="6019650" y="4324242"/>
            <a:ext cx="4648084" cy="1066773"/>
          </a:xfrm>
          <a:prstGeom prst="rect">
            <a:avLst/>
          </a:prstGeom>
        </p:spPr>
      </p:pic>
      <p:sp>
        <p:nvSpPr>
          <p:cNvPr id="20" name="Text 11"/>
          <p:cNvSpPr/>
          <p:nvPr/>
        </p:nvSpPr>
        <p:spPr>
          <a:xfrm>
            <a:off x="6257769" y="4562361"/>
            <a:ext cx="294887" cy="590535"/>
          </a:xfrm>
          <a:prstGeom prst="rect">
            <a:avLst/>
          </a:prstGeom>
          <a:noFill/>
          <a:ln/>
        </p:spPr>
        <p:txBody>
          <a:bodyPr wrap="squar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04</a:t>
            </a:r>
            <a:endParaRPr lang="en-US" sz="2250" dirty="0"/>
          </a:p>
        </p:txBody>
      </p:sp>
      <p:sp>
        <p:nvSpPr>
          <p:cNvPr id="21" name="Text 12"/>
          <p:cNvSpPr/>
          <p:nvPr/>
        </p:nvSpPr>
        <p:spPr>
          <a:xfrm>
            <a:off x="6695908" y="4562361"/>
            <a:ext cx="1533106" cy="266693"/>
          </a:xfrm>
          <a:prstGeom prst="rect">
            <a:avLst/>
          </a:prstGeom>
          <a:noFill/>
          <a:ln/>
        </p:spPr>
        <p:txBody>
          <a:bodyPr wrap="none" lIns="0" tIns="0" rIns="0" bIns="0" rtlCol="0" anchor="ctr"/>
          <a:lstStyle/>
          <a:p>
            <a:pPr marL="0" indent="0" algn="l">
              <a:buNone/>
            </a:pPr>
            <a:r>
              <a:rPr lang="en-US" sz="1500" dirty="0">
                <a:solidFill>
                  <a:srgbClr val="0F172A"/>
                </a:solidFill>
                <a:latin typeface="Arial" pitchFamily="34" charset="0"/>
                <a:ea typeface="Arial" pitchFamily="34" charset="-122"/>
                <a:cs typeface="Arial" pitchFamily="34" charset="-120"/>
              </a:rPr>
              <a:t>科研方案</a:t>
            </a:r>
            <a:endParaRPr lang="en-US" sz="1500" dirty="0"/>
          </a:p>
        </p:txBody>
      </p:sp>
      <p:sp>
        <p:nvSpPr>
          <p:cNvPr id="22" name="Text 13"/>
          <p:cNvSpPr/>
          <p:nvPr/>
        </p:nvSpPr>
        <p:spPr>
          <a:xfrm>
            <a:off x="6695908" y="4905252"/>
            <a:ext cx="1533106"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可验证问题与实验设计</a:t>
            </a:r>
            <a:endParaRPr lang="en-US" sz="1200" dirty="0"/>
          </a:p>
        </p:txBody>
      </p:sp>
      <p:pic>
        <p:nvPicPr>
          <p:cNvPr id="23" name="Image 7" descr="preencoded.png"/>
          <p:cNvPicPr>
            <a:picLocks noChangeAspect="1"/>
          </p:cNvPicPr>
          <p:nvPr/>
        </p:nvPicPr>
        <p:blipFill>
          <a:blip r:embed="rId7">
            <a:alphaModFix amt="10000"/>
          </a:blip>
          <a:stretch>
            <a:fillRect/>
          </a:stretch>
        </p:blipFill>
        <p:spPr>
          <a:xfrm>
            <a:off x="10639159" y="5305292"/>
            <a:ext cx="1295368" cy="12953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914377" y="609585"/>
            <a:ext cx="8543331" cy="561961"/>
          </a:xfrm>
          <a:prstGeom prst="rect">
            <a:avLst/>
          </a:prstGeom>
          <a:noFill/>
          <a:ln/>
        </p:spPr>
        <p:txBody>
          <a:bodyPr wrap="square" lIns="0" tIns="0" rIns="0" bIns="0" rtlCol="0" anchor="ctr"/>
          <a:lstStyle/>
          <a:p>
            <a:pPr marL="0" indent="0" algn="l">
              <a:buNone/>
            </a:pPr>
            <a:r>
              <a:rPr lang="en-US" sz="1350" dirty="0">
                <a:solidFill>
                  <a:srgbClr val="475569"/>
                </a:solidFill>
                <a:latin typeface="Arial" pitchFamily="34" charset="0"/>
                <a:ea typeface="Arial" pitchFamily="34" charset="-122"/>
                <a:cs typeface="Arial" pitchFamily="34" charset="-120"/>
              </a:rPr>
              <a:t>8量子比特生物分子模拟的核心原理是</a:t>
            </a:r>
            <a:r>
              <a:rPr lang="en-US" sz="1350" b="1" dirty="0">
                <a:solidFill>
                  <a:srgbClr val="4338CA"/>
                </a:solidFill>
                <a:latin typeface="Arial" pitchFamily="34" charset="0"/>
                <a:ea typeface="Arial" pitchFamily="34" charset="-122"/>
                <a:cs typeface="Arial" pitchFamily="34" charset="-120"/>
              </a:rPr>
              <a:t>"量子计算提供高精度训练数据，机器学习外推势能面"</a:t>
            </a:r>
            <a:r>
              <a:rPr lang="en-US" sz="1350" dirty="0">
                <a:solidFill>
                  <a:srgbClr val="475569"/>
                </a:solidFill>
                <a:latin typeface="Arial" pitchFamily="34" charset="0"/>
                <a:ea typeface="Arial" pitchFamily="34" charset="-122"/>
                <a:cs typeface="Arial" pitchFamily="34" charset="-120"/>
              </a:rPr>
              <a:t>的混合范式，旨在绕开当前量子硬件的规模与噪声限制。</a:t>
            </a:r>
            <a:endParaRPr lang="en-US" sz="1350" dirty="0"/>
          </a:p>
        </p:txBody>
      </p:sp>
      <p:sp>
        <p:nvSpPr>
          <p:cNvPr id="5" name="Text 1"/>
          <p:cNvSpPr/>
          <p:nvPr/>
        </p:nvSpPr>
        <p:spPr>
          <a:xfrm>
            <a:off x="914377" y="1400140"/>
            <a:ext cx="10676877" cy="542911"/>
          </a:xfrm>
          <a:prstGeom prst="rect">
            <a:avLst/>
          </a:prstGeom>
          <a:noFill/>
          <a:ln/>
        </p:spPr>
        <p:txBody>
          <a:bodyPr wrap="none" lIns="0" tIns="0" rIns="0" bIns="0" rtlCol="0" anchor="ctr"/>
          <a:lstStyle/>
          <a:p>
            <a:pPr marL="0" indent="0" algn="l">
              <a:buNone/>
            </a:pPr>
            <a:r>
              <a:rPr lang="en-US" sz="2850" b="1" dirty="0">
                <a:solidFill>
                  <a:srgbClr val="0F172A"/>
                </a:solidFill>
                <a:latin typeface="Arial" pitchFamily="34" charset="0"/>
                <a:ea typeface="Arial" pitchFamily="34" charset="-122"/>
                <a:cs typeface="Arial" pitchFamily="34" charset="-120"/>
              </a:rPr>
              <a:t>量子-机器学习协同框架</a:t>
            </a:r>
            <a:endParaRPr lang="en-US" sz="2850" dirty="0"/>
          </a:p>
        </p:txBody>
      </p:sp>
      <p:pic>
        <p:nvPicPr>
          <p:cNvPr id="6" name="Image 2" descr="preencoded.png"/>
          <p:cNvPicPr>
            <a:picLocks noChangeAspect="1"/>
          </p:cNvPicPr>
          <p:nvPr/>
        </p:nvPicPr>
        <p:blipFill>
          <a:blip r:embed="rId5"/>
          <a:stretch>
            <a:fillRect/>
          </a:stretch>
        </p:blipFill>
        <p:spPr>
          <a:xfrm>
            <a:off x="914377" y="2324042"/>
            <a:ext cx="3409865" cy="3933727"/>
          </a:xfrm>
          <a:prstGeom prst="rect">
            <a:avLst/>
          </a:prstGeom>
        </p:spPr>
      </p:pic>
      <p:sp>
        <p:nvSpPr>
          <p:cNvPr id="7" name="Text 2"/>
          <p:cNvSpPr/>
          <p:nvPr/>
        </p:nvSpPr>
        <p:spPr>
          <a:xfrm>
            <a:off x="1152496" y="2562161"/>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01</a:t>
            </a:r>
            <a:endParaRPr lang="en-US" sz="2250" dirty="0"/>
          </a:p>
        </p:txBody>
      </p:sp>
      <p:pic>
        <p:nvPicPr>
          <p:cNvPr id="8" name="Image 3" descr="preencoded.png"/>
          <p:cNvPicPr>
            <a:picLocks noChangeAspect="1"/>
          </p:cNvPicPr>
          <p:nvPr/>
        </p:nvPicPr>
        <p:blipFill>
          <a:blip r:embed="rId6"/>
          <a:stretch>
            <a:fillRect/>
          </a:stretch>
        </p:blipFill>
        <p:spPr>
          <a:xfrm>
            <a:off x="1552536" y="2724082"/>
            <a:ext cx="304792" cy="19050"/>
          </a:xfrm>
          <a:prstGeom prst="rect">
            <a:avLst/>
          </a:prstGeom>
        </p:spPr>
      </p:pic>
      <p:sp>
        <p:nvSpPr>
          <p:cNvPr id="9" name="Text 3"/>
          <p:cNvSpPr/>
          <p:nvPr/>
        </p:nvSpPr>
        <p:spPr>
          <a:xfrm>
            <a:off x="1152496" y="3057449"/>
            <a:ext cx="2942771" cy="266693"/>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经典预训练</a:t>
            </a:r>
            <a:endParaRPr lang="en-US" sz="1500" dirty="0"/>
          </a:p>
        </p:txBody>
      </p:sp>
      <p:sp>
        <p:nvSpPr>
          <p:cNvPr id="10" name="Text 4"/>
          <p:cNvSpPr/>
          <p:nvPr/>
        </p:nvSpPr>
        <p:spPr>
          <a:xfrm>
            <a:off x="1152496" y="3438439"/>
            <a:ext cx="2942771" cy="2038299"/>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在经典计算机上，使用低成本方法（如DFT）生成大量低精度势能数据，对神经网络（如Behler-Parrinello神经网络）进行预训练。</a:t>
            </a:r>
            <a:endParaRPr lang="en-US" sz="1200" dirty="0"/>
          </a:p>
        </p:txBody>
      </p:sp>
      <p:sp>
        <p:nvSpPr>
          <p:cNvPr id="11" name="Text 5"/>
          <p:cNvSpPr/>
          <p:nvPr/>
        </p:nvSpPr>
        <p:spPr>
          <a:xfrm>
            <a:off x="1152496" y="5619610"/>
            <a:ext cx="2942771" cy="390515"/>
          </a:xfrm>
          <a:prstGeom prst="rect">
            <a:avLst/>
          </a:prstGeom>
          <a:noFill/>
          <a:ln/>
        </p:spPr>
        <p:txBody>
          <a:bodyPr wrap="square" lIns="0" tIns="0" rIns="0" bIns="0" rtlCol="0" anchor="ctr"/>
          <a:lstStyle/>
          <a:p>
            <a:pPr marL="0" indent="0" algn="l">
              <a:buNone/>
            </a:pPr>
            <a:r>
              <a:rPr lang="en-US" sz="900" dirty="0">
                <a:solidFill>
                  <a:srgbClr val="94A3B8"/>
                </a:solidFill>
                <a:latin typeface="Arial" pitchFamily="34" charset="0"/>
                <a:ea typeface="Arial" pitchFamily="34" charset="-122"/>
                <a:cs typeface="Arial" pitchFamily="34" charset="-120"/>
              </a:rPr>
              <a:t>Classical Pre-training</a:t>
            </a:r>
            <a:endParaRPr lang="en-US" sz="1200" dirty="0"/>
          </a:p>
        </p:txBody>
      </p:sp>
      <p:pic>
        <p:nvPicPr>
          <p:cNvPr id="12" name="Image 4" descr="preencoded.png"/>
          <p:cNvPicPr>
            <a:picLocks noChangeAspect="1"/>
          </p:cNvPicPr>
          <p:nvPr/>
        </p:nvPicPr>
        <p:blipFill>
          <a:blip r:embed="rId5"/>
          <a:stretch>
            <a:fillRect/>
          </a:stretch>
        </p:blipFill>
        <p:spPr>
          <a:xfrm>
            <a:off x="4552836" y="2324042"/>
            <a:ext cx="3409865" cy="3933727"/>
          </a:xfrm>
          <a:prstGeom prst="rect">
            <a:avLst/>
          </a:prstGeom>
        </p:spPr>
      </p:pic>
      <p:sp>
        <p:nvSpPr>
          <p:cNvPr id="13" name="Text 6"/>
          <p:cNvSpPr/>
          <p:nvPr/>
        </p:nvSpPr>
        <p:spPr>
          <a:xfrm>
            <a:off x="4790955" y="2562161"/>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02</a:t>
            </a:r>
            <a:endParaRPr lang="en-US" sz="2250" dirty="0"/>
          </a:p>
        </p:txBody>
      </p:sp>
      <p:pic>
        <p:nvPicPr>
          <p:cNvPr id="14" name="Image 5" descr="preencoded.png"/>
          <p:cNvPicPr>
            <a:picLocks noChangeAspect="1"/>
          </p:cNvPicPr>
          <p:nvPr/>
        </p:nvPicPr>
        <p:blipFill>
          <a:blip r:embed="rId6"/>
          <a:stretch>
            <a:fillRect/>
          </a:stretch>
        </p:blipFill>
        <p:spPr>
          <a:xfrm>
            <a:off x="5190995" y="2724082"/>
            <a:ext cx="304792" cy="19050"/>
          </a:xfrm>
          <a:prstGeom prst="rect">
            <a:avLst/>
          </a:prstGeom>
        </p:spPr>
      </p:pic>
      <p:sp>
        <p:nvSpPr>
          <p:cNvPr id="15" name="Text 7"/>
          <p:cNvSpPr/>
          <p:nvPr/>
        </p:nvSpPr>
        <p:spPr>
          <a:xfrm>
            <a:off x="4790955" y="3057449"/>
            <a:ext cx="2942771" cy="266693"/>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量子微调</a:t>
            </a:r>
            <a:endParaRPr lang="en-US" sz="1500" dirty="0"/>
          </a:p>
        </p:txBody>
      </p:sp>
      <p:sp>
        <p:nvSpPr>
          <p:cNvPr id="16" name="Text 8"/>
          <p:cNvSpPr/>
          <p:nvPr/>
        </p:nvSpPr>
        <p:spPr>
          <a:xfrm>
            <a:off x="4790955" y="3438439"/>
            <a:ext cx="2942771" cy="2038299"/>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利用</a:t>
            </a:r>
            <a:r>
              <a:rPr lang="en-US" sz="1200" b="1" dirty="0">
                <a:solidFill>
                  <a:srgbClr val="4338CA"/>
                </a:solidFill>
                <a:latin typeface="Arial" pitchFamily="34" charset="0"/>
                <a:ea typeface="Arial" pitchFamily="34" charset="-122"/>
                <a:cs typeface="Arial" pitchFamily="34" charset="-120"/>
              </a:rPr>
              <a:t>8量子比特</a:t>
            </a:r>
            <a:r>
              <a:rPr lang="en-US" sz="1200" dirty="0">
                <a:solidFill>
                  <a:srgbClr val="475569"/>
                </a:solidFill>
                <a:latin typeface="Arial" pitchFamily="34" charset="0"/>
                <a:ea typeface="Arial" pitchFamily="34" charset="-122"/>
                <a:cs typeface="Arial" pitchFamily="34" charset="-120"/>
              </a:rPr>
              <a:t>处理器，通过VQE或QCM等方法计算少量高精度能量点（误差可达</a:t>
            </a:r>
            <a:r>
              <a:rPr lang="en-US" sz="1200" b="1" dirty="0">
                <a:solidFill>
                  <a:srgbClr val="4338CA"/>
                </a:solidFill>
                <a:latin typeface="Arial" pitchFamily="34" charset="0"/>
                <a:ea typeface="Arial" pitchFamily="34" charset="-122"/>
                <a:cs typeface="Arial" pitchFamily="34" charset="-120"/>
              </a:rPr>
              <a:t>~1.4 mHa</a:t>
            </a:r>
            <a:r>
              <a:rPr lang="en-US" sz="1200" dirty="0">
                <a:solidFill>
                  <a:srgbClr val="475569"/>
                </a:solidFill>
                <a:latin typeface="Arial" pitchFamily="34" charset="0"/>
                <a:ea typeface="Arial" pitchFamily="34" charset="-122"/>
                <a:cs typeface="Arial" pitchFamily="34" charset="-120"/>
              </a:rPr>
              <a:t>），对预训练模型进行精调。</a:t>
            </a:r>
            <a:endParaRPr lang="en-US" sz="1200" dirty="0"/>
          </a:p>
        </p:txBody>
      </p:sp>
      <p:sp>
        <p:nvSpPr>
          <p:cNvPr id="17" name="Text 9"/>
          <p:cNvSpPr/>
          <p:nvPr/>
        </p:nvSpPr>
        <p:spPr>
          <a:xfrm>
            <a:off x="4790955" y="5619610"/>
            <a:ext cx="2942771" cy="390515"/>
          </a:xfrm>
          <a:prstGeom prst="rect">
            <a:avLst/>
          </a:prstGeom>
          <a:noFill/>
          <a:ln/>
        </p:spPr>
        <p:txBody>
          <a:bodyPr wrap="square" lIns="0" tIns="0" rIns="0" bIns="0" rtlCol="0" anchor="ctr"/>
          <a:lstStyle/>
          <a:p>
            <a:pPr marL="0" indent="0" algn="l">
              <a:buNone/>
            </a:pPr>
            <a:r>
              <a:rPr lang="en-US" sz="900" dirty="0">
                <a:solidFill>
                  <a:srgbClr val="94A3B8"/>
                </a:solidFill>
                <a:latin typeface="Arial" pitchFamily="34" charset="0"/>
                <a:ea typeface="Arial" pitchFamily="34" charset="-122"/>
                <a:cs typeface="Arial" pitchFamily="34" charset="-120"/>
              </a:rPr>
              <a:t>Quantum Fine-tuning</a:t>
            </a:r>
            <a:endParaRPr lang="en-US" sz="1200" dirty="0"/>
          </a:p>
        </p:txBody>
      </p:sp>
      <p:pic>
        <p:nvPicPr>
          <p:cNvPr id="18" name="Image 6" descr="preencoded.png"/>
          <p:cNvPicPr>
            <a:picLocks noChangeAspect="1"/>
          </p:cNvPicPr>
          <p:nvPr/>
        </p:nvPicPr>
        <p:blipFill>
          <a:blip r:embed="rId7"/>
          <a:stretch>
            <a:fillRect/>
          </a:stretch>
        </p:blipFill>
        <p:spPr>
          <a:xfrm>
            <a:off x="8181770" y="2324042"/>
            <a:ext cx="3409865" cy="3933727"/>
          </a:xfrm>
          <a:prstGeom prst="rect">
            <a:avLst/>
          </a:prstGeom>
        </p:spPr>
      </p:pic>
      <p:sp>
        <p:nvSpPr>
          <p:cNvPr id="19" name="Text 10"/>
          <p:cNvSpPr/>
          <p:nvPr/>
        </p:nvSpPr>
        <p:spPr>
          <a:xfrm>
            <a:off x="8419889" y="2562161"/>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03</a:t>
            </a:r>
            <a:endParaRPr lang="en-US" sz="2250" dirty="0"/>
          </a:p>
        </p:txBody>
      </p:sp>
      <p:pic>
        <p:nvPicPr>
          <p:cNvPr id="20" name="Image 7" descr="preencoded.png"/>
          <p:cNvPicPr>
            <a:picLocks noChangeAspect="1"/>
          </p:cNvPicPr>
          <p:nvPr/>
        </p:nvPicPr>
        <p:blipFill>
          <a:blip r:embed="rId6"/>
          <a:stretch>
            <a:fillRect/>
          </a:stretch>
        </p:blipFill>
        <p:spPr>
          <a:xfrm>
            <a:off x="8819929" y="2724082"/>
            <a:ext cx="304792" cy="19050"/>
          </a:xfrm>
          <a:prstGeom prst="rect">
            <a:avLst/>
          </a:prstGeom>
        </p:spPr>
      </p:pic>
      <p:sp>
        <p:nvSpPr>
          <p:cNvPr id="21" name="Text 11"/>
          <p:cNvSpPr/>
          <p:nvPr/>
        </p:nvSpPr>
        <p:spPr>
          <a:xfrm>
            <a:off x="8419889" y="3057449"/>
            <a:ext cx="2942771" cy="266693"/>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动力学驱动</a:t>
            </a:r>
            <a:endParaRPr lang="en-US" sz="1500" dirty="0"/>
          </a:p>
        </p:txBody>
      </p:sp>
      <p:sp>
        <p:nvSpPr>
          <p:cNvPr id="22" name="Text 12"/>
          <p:cNvSpPr/>
          <p:nvPr/>
        </p:nvSpPr>
        <p:spPr>
          <a:xfrm>
            <a:off x="8419889" y="3438439"/>
            <a:ext cx="2942771" cy="2038299"/>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训练好的神经网络能够高效预测分子能量与力，从而驱动经典积分器完成长时间、高精度的分子动力学模拟。</a:t>
            </a:r>
            <a:endParaRPr lang="en-US" sz="1200" dirty="0"/>
          </a:p>
        </p:txBody>
      </p:sp>
      <p:sp>
        <p:nvSpPr>
          <p:cNvPr id="23" name="Text 13"/>
          <p:cNvSpPr/>
          <p:nvPr/>
        </p:nvSpPr>
        <p:spPr>
          <a:xfrm>
            <a:off x="8419889" y="5619610"/>
            <a:ext cx="2942771" cy="390515"/>
          </a:xfrm>
          <a:prstGeom prst="rect">
            <a:avLst/>
          </a:prstGeom>
          <a:noFill/>
          <a:ln/>
        </p:spPr>
        <p:txBody>
          <a:bodyPr wrap="square" lIns="0" tIns="0" rIns="0" bIns="0" rtlCol="0" anchor="ctr"/>
          <a:lstStyle/>
          <a:p>
            <a:pPr marL="0" indent="0" algn="l">
              <a:buNone/>
            </a:pPr>
            <a:r>
              <a:rPr lang="en-US" sz="900" dirty="0">
                <a:solidFill>
                  <a:srgbClr val="94A3B8"/>
                </a:solidFill>
                <a:latin typeface="Arial" pitchFamily="34" charset="0"/>
                <a:ea typeface="Arial" pitchFamily="34" charset="-122"/>
                <a:cs typeface="Arial" pitchFamily="34" charset="-120"/>
              </a:rPr>
              <a:t>Dynamics Driving</a:t>
            </a:r>
            <a:endParaRPr lang="en-US" sz="1200" dirty="0"/>
          </a:p>
        </p:txBody>
      </p:sp>
      <p:pic>
        <p:nvPicPr>
          <p:cNvPr id="24" name="Image 8" descr="preencoded.png"/>
          <p:cNvPicPr>
            <a:picLocks noChangeAspect="1"/>
          </p:cNvPicPr>
          <p:nvPr/>
        </p:nvPicPr>
        <p:blipFill>
          <a:blip r:embed="rId8">
            <a:alphaModFix amt="10000"/>
          </a:blip>
          <a:stretch>
            <a:fillRect/>
          </a:stretch>
        </p:blipFill>
        <p:spPr>
          <a:xfrm>
            <a:off x="10905852" y="5571986"/>
            <a:ext cx="904852" cy="9048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914377" y="533387"/>
            <a:ext cx="10676877"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技术突破：水分子模型验证</a:t>
            </a:r>
            <a:endParaRPr lang="en-US" sz="3000" dirty="0"/>
          </a:p>
        </p:txBody>
      </p:sp>
      <p:sp>
        <p:nvSpPr>
          <p:cNvPr id="5" name="Text 1"/>
          <p:cNvSpPr/>
          <p:nvPr/>
        </p:nvSpPr>
        <p:spPr>
          <a:xfrm>
            <a:off x="914377" y="1333467"/>
            <a:ext cx="9762500" cy="285743"/>
          </a:xfrm>
          <a:prstGeom prst="rect">
            <a:avLst/>
          </a:prstGeom>
          <a:noFill/>
          <a:ln/>
        </p:spPr>
        <p:txBody>
          <a:bodyPr wrap="none" lIns="0" tIns="0" rIns="0" bIns="0" rtlCol="0" anchor="ctr"/>
          <a:lstStyle/>
          <a:p>
            <a:pPr marL="0" indent="0" algn="l">
              <a:buNone/>
            </a:pPr>
            <a:r>
              <a:rPr lang="en-US" sz="1350" dirty="0">
                <a:solidFill>
                  <a:srgbClr val="475569"/>
                </a:solidFill>
                <a:latin typeface="Arial" pitchFamily="34" charset="0"/>
                <a:ea typeface="Arial" pitchFamily="34" charset="-122"/>
                <a:cs typeface="Arial" pitchFamily="34" charset="-120"/>
              </a:rPr>
              <a:t>在当前噪声中等规模量子（NISQ）硬件上，针对生物相关体系实现了两项关键原理性突破：</a:t>
            </a:r>
            <a:endParaRPr lang="en-US" sz="1350" dirty="0"/>
          </a:p>
        </p:txBody>
      </p:sp>
      <p:pic>
        <p:nvPicPr>
          <p:cNvPr id="6" name="Image 2" descr="preencoded.png"/>
          <p:cNvPicPr>
            <a:picLocks noChangeAspect="1"/>
          </p:cNvPicPr>
          <p:nvPr/>
        </p:nvPicPr>
        <p:blipFill>
          <a:blip r:embed="rId5"/>
          <a:stretch>
            <a:fillRect/>
          </a:stretch>
        </p:blipFill>
        <p:spPr>
          <a:xfrm>
            <a:off x="914377" y="1924002"/>
            <a:ext cx="5181470" cy="4409965"/>
          </a:xfrm>
          <a:prstGeom prst="rect">
            <a:avLst/>
          </a:prstGeom>
        </p:spPr>
      </p:pic>
      <p:pic>
        <p:nvPicPr>
          <p:cNvPr id="7" name="Image 3" descr="preencoded.png"/>
          <p:cNvPicPr>
            <a:picLocks noChangeAspect="1"/>
          </p:cNvPicPr>
          <p:nvPr/>
        </p:nvPicPr>
        <p:blipFill>
          <a:blip r:embed="rId6"/>
          <a:stretch>
            <a:fillRect/>
          </a:stretch>
        </p:blipFill>
        <p:spPr>
          <a:xfrm>
            <a:off x="1228694" y="2238319"/>
            <a:ext cx="457189" cy="457189"/>
          </a:xfrm>
          <a:prstGeom prst="rect">
            <a:avLst/>
          </a:prstGeom>
        </p:spPr>
      </p:pic>
      <p:sp>
        <p:nvSpPr>
          <p:cNvPr id="8" name="Text 2"/>
          <p:cNvSpPr/>
          <p:nvPr/>
        </p:nvSpPr>
        <p:spPr>
          <a:xfrm>
            <a:off x="1362041" y="2333567"/>
            <a:ext cx="199639" cy="266693"/>
          </a:xfrm>
          <a:prstGeom prst="rect">
            <a:avLst/>
          </a:prstGeom>
          <a:noFill/>
          <a:ln/>
        </p:spPr>
        <p:txBody>
          <a:bodyPr wrap="non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sp>
        <p:nvSpPr>
          <p:cNvPr id="9" name="Text 3"/>
          <p:cNvSpPr/>
          <p:nvPr/>
        </p:nvSpPr>
        <p:spPr>
          <a:xfrm>
            <a:off x="1838279" y="2247844"/>
            <a:ext cx="1685502" cy="209545"/>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首次达到化学精度的</a:t>
            </a:r>
            <a:endParaRPr lang="en-US" sz="1500" dirty="0"/>
          </a:p>
        </p:txBody>
      </p:sp>
      <p:sp>
        <p:nvSpPr>
          <p:cNvPr id="10" name="Text 4"/>
          <p:cNvSpPr/>
          <p:nvPr/>
        </p:nvSpPr>
        <p:spPr>
          <a:xfrm>
            <a:off x="1838279" y="2485963"/>
            <a:ext cx="1123541" cy="209545"/>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基态能量计算</a:t>
            </a:r>
            <a:endParaRPr lang="en-US" sz="1500" dirty="0"/>
          </a:p>
        </p:txBody>
      </p:sp>
      <p:pic>
        <p:nvPicPr>
          <p:cNvPr id="11" name="Image 4" descr="preencoded.png"/>
          <p:cNvPicPr>
            <a:picLocks noChangeAspect="1"/>
          </p:cNvPicPr>
          <p:nvPr/>
        </p:nvPicPr>
        <p:blipFill>
          <a:blip r:embed="rId7"/>
          <a:stretch>
            <a:fillRect/>
          </a:stretch>
        </p:blipFill>
        <p:spPr>
          <a:xfrm>
            <a:off x="1228694" y="2962201"/>
            <a:ext cx="133347" cy="133347"/>
          </a:xfrm>
          <a:prstGeom prst="rect">
            <a:avLst/>
          </a:prstGeom>
        </p:spPr>
      </p:pic>
      <p:sp>
        <p:nvSpPr>
          <p:cNvPr id="12" name="Text 5"/>
          <p:cNvSpPr/>
          <p:nvPr/>
        </p:nvSpPr>
        <p:spPr>
          <a:xfrm>
            <a:off x="1476338" y="2962201"/>
            <a:ext cx="294887" cy="142871"/>
          </a:xfrm>
          <a:prstGeom prst="rect">
            <a:avLst/>
          </a:prstGeom>
          <a:noFill/>
          <a:ln/>
        </p:spPr>
        <p:txBody>
          <a:bodyPr wrap="none" lIns="0" tIns="0" rIns="0" bIns="0" rtlCol="0" anchor="ctr"/>
          <a:lstStyle/>
          <a:p>
            <a:pPr marL="0" indent="0" algn="l">
              <a:buNone/>
            </a:pPr>
            <a:r>
              <a:rPr lang="en-US" sz="1050" b="1" dirty="0">
                <a:solidFill>
                  <a:srgbClr val="0F172A"/>
                </a:solidFill>
                <a:latin typeface="Arial" pitchFamily="34" charset="0"/>
                <a:ea typeface="Arial" pitchFamily="34" charset="-122"/>
                <a:cs typeface="Arial" pitchFamily="34" charset="-120"/>
              </a:rPr>
              <a:t>体系</a:t>
            </a:r>
            <a:endParaRPr lang="en-US" sz="1050" dirty="0"/>
          </a:p>
        </p:txBody>
      </p:sp>
      <p:sp>
        <p:nvSpPr>
          <p:cNvPr id="13" name="Text 6"/>
          <p:cNvSpPr/>
          <p:nvPr/>
        </p:nvSpPr>
        <p:spPr>
          <a:xfrm>
            <a:off x="1476338" y="3171746"/>
            <a:ext cx="2837998" cy="247644"/>
          </a:xfrm>
          <a:prstGeom prst="rect">
            <a:avLst/>
          </a:prstGeom>
          <a:noFill/>
          <a:ln/>
        </p:spPr>
        <p:txBody>
          <a:bodyPr wrap="non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水分子（H₂O）的</a:t>
            </a:r>
            <a:r>
              <a:rPr lang="en-US" sz="1200" b="1" dirty="0">
                <a:solidFill>
                  <a:srgbClr val="4338CA"/>
                </a:solidFill>
                <a:latin typeface="Arial" pitchFamily="34" charset="0"/>
                <a:ea typeface="Arial" pitchFamily="34" charset="-122"/>
                <a:cs typeface="Arial" pitchFamily="34" charset="-120"/>
              </a:rPr>
              <a:t>8量子比特</a:t>
            </a:r>
            <a:r>
              <a:rPr lang="en-US" sz="1200" dirty="0">
                <a:solidFill>
                  <a:srgbClr val="334155"/>
                </a:solidFill>
                <a:latin typeface="Arial" pitchFamily="34" charset="0"/>
                <a:ea typeface="Arial" pitchFamily="34" charset="-122"/>
                <a:cs typeface="Arial" pitchFamily="34" charset="-120"/>
              </a:rPr>
              <a:t>/自旋轨道表示</a:t>
            </a:r>
            <a:endParaRPr lang="en-US" sz="1200" dirty="0"/>
          </a:p>
        </p:txBody>
      </p:sp>
      <p:pic>
        <p:nvPicPr>
          <p:cNvPr id="14" name="Image 5" descr="preencoded.png"/>
          <p:cNvPicPr>
            <a:picLocks noChangeAspect="1"/>
          </p:cNvPicPr>
          <p:nvPr/>
        </p:nvPicPr>
        <p:blipFill>
          <a:blip r:embed="rId8"/>
          <a:stretch>
            <a:fillRect/>
          </a:stretch>
        </p:blipFill>
        <p:spPr>
          <a:xfrm>
            <a:off x="1228694" y="3628934"/>
            <a:ext cx="133347" cy="133347"/>
          </a:xfrm>
          <a:prstGeom prst="rect">
            <a:avLst/>
          </a:prstGeom>
        </p:spPr>
      </p:pic>
      <p:sp>
        <p:nvSpPr>
          <p:cNvPr id="15" name="Text 7"/>
          <p:cNvSpPr/>
          <p:nvPr/>
        </p:nvSpPr>
        <p:spPr>
          <a:xfrm>
            <a:off x="1476338" y="3628934"/>
            <a:ext cx="294887" cy="142871"/>
          </a:xfrm>
          <a:prstGeom prst="rect">
            <a:avLst/>
          </a:prstGeom>
          <a:noFill/>
          <a:ln/>
        </p:spPr>
        <p:txBody>
          <a:bodyPr wrap="none" lIns="0" tIns="0" rIns="0" bIns="0" rtlCol="0" anchor="ctr"/>
          <a:lstStyle/>
          <a:p>
            <a:pPr marL="0" indent="0" algn="l">
              <a:buNone/>
            </a:pPr>
            <a:r>
              <a:rPr lang="en-US" sz="1050" b="1" dirty="0">
                <a:solidFill>
                  <a:srgbClr val="0F172A"/>
                </a:solidFill>
                <a:latin typeface="Arial" pitchFamily="34" charset="0"/>
                <a:ea typeface="Arial" pitchFamily="34" charset="-122"/>
                <a:cs typeface="Arial" pitchFamily="34" charset="-120"/>
              </a:rPr>
              <a:t>方法</a:t>
            </a:r>
            <a:endParaRPr lang="en-US" sz="1050" dirty="0"/>
          </a:p>
        </p:txBody>
      </p:sp>
      <p:sp>
        <p:nvSpPr>
          <p:cNvPr id="16" name="Text 8"/>
          <p:cNvSpPr/>
          <p:nvPr/>
        </p:nvSpPr>
        <p:spPr>
          <a:xfrm>
            <a:off x="1476338" y="3838479"/>
            <a:ext cx="4314336"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结合量子计算矩（QCM）方法与多种噪声缓解技术（读数误差缓解、对称性验证）</a:t>
            </a:r>
            <a:endParaRPr lang="en-US" sz="1200" dirty="0"/>
          </a:p>
        </p:txBody>
      </p:sp>
      <p:pic>
        <p:nvPicPr>
          <p:cNvPr id="17" name="Image 6" descr="preencoded.png"/>
          <p:cNvPicPr>
            <a:picLocks noChangeAspect="1"/>
          </p:cNvPicPr>
          <p:nvPr/>
        </p:nvPicPr>
        <p:blipFill>
          <a:blip r:embed="rId9"/>
          <a:stretch>
            <a:fillRect/>
          </a:stretch>
        </p:blipFill>
        <p:spPr>
          <a:xfrm>
            <a:off x="1228694" y="4543311"/>
            <a:ext cx="133347" cy="133347"/>
          </a:xfrm>
          <a:prstGeom prst="rect">
            <a:avLst/>
          </a:prstGeom>
        </p:spPr>
      </p:pic>
      <p:sp>
        <p:nvSpPr>
          <p:cNvPr id="18" name="Text 9"/>
          <p:cNvSpPr/>
          <p:nvPr/>
        </p:nvSpPr>
        <p:spPr>
          <a:xfrm>
            <a:off x="1476338" y="4543311"/>
            <a:ext cx="294887" cy="142871"/>
          </a:xfrm>
          <a:prstGeom prst="rect">
            <a:avLst/>
          </a:prstGeom>
          <a:noFill/>
          <a:ln/>
        </p:spPr>
        <p:txBody>
          <a:bodyPr wrap="none" lIns="0" tIns="0" rIns="0" bIns="0" rtlCol="0" anchor="ctr"/>
          <a:lstStyle/>
          <a:p>
            <a:pPr marL="0" indent="0" algn="l">
              <a:buNone/>
            </a:pPr>
            <a:r>
              <a:rPr lang="en-US" sz="1050" b="1" dirty="0">
                <a:solidFill>
                  <a:srgbClr val="0F172A"/>
                </a:solidFill>
                <a:latin typeface="Arial" pitchFamily="34" charset="0"/>
                <a:ea typeface="Arial" pitchFamily="34" charset="-122"/>
                <a:cs typeface="Arial" pitchFamily="34" charset="-120"/>
              </a:rPr>
              <a:t>成果</a:t>
            </a:r>
            <a:endParaRPr lang="en-US" sz="1050" dirty="0"/>
          </a:p>
        </p:txBody>
      </p:sp>
      <p:sp>
        <p:nvSpPr>
          <p:cNvPr id="19" name="Text 10"/>
          <p:cNvSpPr/>
          <p:nvPr/>
        </p:nvSpPr>
        <p:spPr>
          <a:xfrm>
            <a:off x="1476338" y="4790955"/>
            <a:ext cx="4285762" cy="409565"/>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在CNOT错误率约1%的噪声硬件上，成功将基态能量计算精度提升至与精确对角化结果相差</a:t>
            </a:r>
            <a:endParaRPr lang="en-US" sz="1200" dirty="0"/>
          </a:p>
        </p:txBody>
      </p:sp>
      <p:sp>
        <p:nvSpPr>
          <p:cNvPr id="20" name="Text 11"/>
          <p:cNvSpPr/>
          <p:nvPr/>
        </p:nvSpPr>
        <p:spPr>
          <a:xfrm>
            <a:off x="1476338" y="5286243"/>
            <a:ext cx="1028294" cy="190495"/>
          </a:xfrm>
          <a:prstGeom prst="rect">
            <a:avLst/>
          </a:prstGeom>
          <a:noFill/>
          <a:ln/>
        </p:spPr>
        <p:txBody>
          <a:bodyPr wrap="none" lIns="0" tIns="0" rIns="0" bIns="0" rtlCol="0" anchor="ctr"/>
          <a:lstStyle/>
          <a:p>
            <a:pPr marL="0" indent="0" algn="l">
              <a:buNone/>
            </a:pPr>
            <a:r>
              <a:rPr lang="en-US" sz="1350" b="1" dirty="0">
                <a:solidFill>
                  <a:srgbClr val="4338CA"/>
                </a:solidFill>
                <a:latin typeface="Arial" pitchFamily="34" charset="0"/>
                <a:ea typeface="Arial" pitchFamily="34" charset="-122"/>
                <a:cs typeface="Arial" pitchFamily="34" charset="-120"/>
              </a:rPr>
              <a:t>1.4 ± 1.2 mHa</a:t>
            </a:r>
            <a:endParaRPr lang="en-US" sz="1350" dirty="0"/>
          </a:p>
        </p:txBody>
      </p:sp>
      <p:sp>
        <p:nvSpPr>
          <p:cNvPr id="21" name="Text 12"/>
          <p:cNvSpPr/>
          <p:nvPr/>
        </p:nvSpPr>
        <p:spPr>
          <a:xfrm>
            <a:off x="1476338" y="5571986"/>
            <a:ext cx="3095167" cy="142871"/>
          </a:xfrm>
          <a:prstGeom prst="rect">
            <a:avLst/>
          </a:prstGeom>
          <a:noFill/>
          <a:ln/>
        </p:spPr>
        <p:txBody>
          <a:bodyPr wrap="none" lIns="0" tIns="0" rIns="0" bIns="0" rtlCol="0" anchor="ctr"/>
          <a:lstStyle/>
          <a:p>
            <a:pPr marL="0" indent="0" algn="l">
              <a:buNone/>
            </a:pPr>
            <a:r>
              <a:rPr lang="en-US" sz="1050" dirty="0">
                <a:solidFill>
                  <a:srgbClr val="64748B"/>
                </a:solidFill>
                <a:latin typeface="Arial" pitchFamily="34" charset="0"/>
                <a:ea typeface="Arial" pitchFamily="34" charset="-122"/>
                <a:cs typeface="Arial" pitchFamily="34" charset="-120"/>
              </a:rPr>
              <a:t>首次在物理量子设备上达到化学相关精度（约0.1%）</a:t>
            </a:r>
            <a:endParaRPr lang="en-US" sz="1050" dirty="0"/>
          </a:p>
        </p:txBody>
      </p:sp>
      <p:pic>
        <p:nvPicPr>
          <p:cNvPr id="22" name="Image 7" descr="preencoded.png"/>
          <p:cNvPicPr>
            <a:picLocks noChangeAspect="1"/>
          </p:cNvPicPr>
          <p:nvPr/>
        </p:nvPicPr>
        <p:blipFill>
          <a:blip r:embed="rId5"/>
          <a:stretch>
            <a:fillRect/>
          </a:stretch>
        </p:blipFill>
        <p:spPr>
          <a:xfrm>
            <a:off x="6400640" y="1924002"/>
            <a:ext cx="5181470" cy="4409965"/>
          </a:xfrm>
          <a:prstGeom prst="rect">
            <a:avLst/>
          </a:prstGeom>
        </p:spPr>
      </p:pic>
      <p:pic>
        <p:nvPicPr>
          <p:cNvPr id="23" name="Image 8" descr="preencoded.png"/>
          <p:cNvPicPr>
            <a:picLocks noChangeAspect="1"/>
          </p:cNvPicPr>
          <p:nvPr/>
        </p:nvPicPr>
        <p:blipFill>
          <a:blip r:embed="rId6"/>
          <a:stretch>
            <a:fillRect/>
          </a:stretch>
        </p:blipFill>
        <p:spPr>
          <a:xfrm>
            <a:off x="6714957" y="2238319"/>
            <a:ext cx="457189" cy="457189"/>
          </a:xfrm>
          <a:prstGeom prst="rect">
            <a:avLst/>
          </a:prstGeom>
        </p:spPr>
      </p:pic>
      <p:sp>
        <p:nvSpPr>
          <p:cNvPr id="24" name="Text 13"/>
          <p:cNvSpPr/>
          <p:nvPr/>
        </p:nvSpPr>
        <p:spPr>
          <a:xfrm>
            <a:off x="6848304" y="2333567"/>
            <a:ext cx="199639" cy="266693"/>
          </a:xfrm>
          <a:prstGeom prst="rect">
            <a:avLst/>
          </a:prstGeom>
          <a:noFill/>
          <a:ln/>
        </p:spPr>
        <p:txBody>
          <a:bodyPr wrap="non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sp>
        <p:nvSpPr>
          <p:cNvPr id="25" name="Text 14"/>
          <p:cNvSpPr/>
          <p:nvPr/>
        </p:nvSpPr>
        <p:spPr>
          <a:xfrm>
            <a:off x="7324542" y="2247844"/>
            <a:ext cx="1685502" cy="209545"/>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开辟量子硬件驱动的</a:t>
            </a:r>
            <a:endParaRPr lang="en-US" sz="1500" dirty="0"/>
          </a:p>
        </p:txBody>
      </p:sp>
      <p:sp>
        <p:nvSpPr>
          <p:cNvPr id="26" name="Text 15"/>
          <p:cNvSpPr/>
          <p:nvPr/>
        </p:nvSpPr>
        <p:spPr>
          <a:xfrm>
            <a:off x="7324542" y="2485963"/>
            <a:ext cx="1495007" cy="209545"/>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分子动力学新路径</a:t>
            </a:r>
            <a:endParaRPr lang="en-US" sz="1500" dirty="0"/>
          </a:p>
        </p:txBody>
      </p:sp>
      <p:pic>
        <p:nvPicPr>
          <p:cNvPr id="27" name="Image 9" descr="preencoded.png"/>
          <p:cNvPicPr>
            <a:picLocks noChangeAspect="1"/>
          </p:cNvPicPr>
          <p:nvPr/>
        </p:nvPicPr>
        <p:blipFill>
          <a:blip r:embed="rId10"/>
          <a:stretch>
            <a:fillRect/>
          </a:stretch>
        </p:blipFill>
        <p:spPr>
          <a:xfrm>
            <a:off x="6714957" y="2962201"/>
            <a:ext cx="171446" cy="133347"/>
          </a:xfrm>
          <a:prstGeom prst="rect">
            <a:avLst/>
          </a:prstGeom>
        </p:spPr>
      </p:pic>
      <p:sp>
        <p:nvSpPr>
          <p:cNvPr id="28" name="Text 16"/>
          <p:cNvSpPr/>
          <p:nvPr/>
        </p:nvSpPr>
        <p:spPr>
          <a:xfrm>
            <a:off x="7000700" y="2962201"/>
            <a:ext cx="294887" cy="142871"/>
          </a:xfrm>
          <a:prstGeom prst="rect">
            <a:avLst/>
          </a:prstGeom>
          <a:noFill/>
          <a:ln/>
        </p:spPr>
        <p:txBody>
          <a:bodyPr wrap="none" lIns="0" tIns="0" rIns="0" bIns="0" rtlCol="0" anchor="ctr"/>
          <a:lstStyle/>
          <a:p>
            <a:pPr marL="0" indent="0" algn="l">
              <a:buNone/>
            </a:pPr>
            <a:r>
              <a:rPr lang="en-US" sz="1050" b="1" dirty="0">
                <a:solidFill>
                  <a:srgbClr val="0F172A"/>
                </a:solidFill>
                <a:latin typeface="Arial" pitchFamily="34" charset="0"/>
                <a:ea typeface="Arial" pitchFamily="34" charset="-122"/>
                <a:cs typeface="Arial" pitchFamily="34" charset="-120"/>
              </a:rPr>
              <a:t>框架</a:t>
            </a:r>
            <a:endParaRPr lang="en-US" sz="1050" dirty="0"/>
          </a:p>
        </p:txBody>
      </p:sp>
      <p:sp>
        <p:nvSpPr>
          <p:cNvPr id="29" name="Text 17"/>
          <p:cNvSpPr/>
          <p:nvPr/>
        </p:nvSpPr>
        <p:spPr>
          <a:xfrm>
            <a:off x="7000700" y="3171746"/>
            <a:ext cx="4285762"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提出</a:t>
            </a:r>
            <a:r>
              <a:rPr lang="en-US" sz="1200" b="1" dirty="0">
                <a:solidFill>
                  <a:srgbClr val="4338CA"/>
                </a:solidFill>
                <a:latin typeface="Arial" pitchFamily="34" charset="0"/>
                <a:ea typeface="Arial" pitchFamily="34" charset="-122"/>
                <a:cs typeface="Arial" pitchFamily="34" charset="-120"/>
              </a:rPr>
              <a:t>"量子计算提供高精度数据 + 机器学习外推势能面"</a:t>
            </a:r>
            <a:r>
              <a:rPr lang="en-US" sz="1200" dirty="0">
                <a:solidFill>
                  <a:srgbClr val="334155"/>
                </a:solidFill>
                <a:latin typeface="Arial" pitchFamily="34" charset="0"/>
                <a:ea typeface="Arial" pitchFamily="34" charset="-122"/>
                <a:cs typeface="Arial" pitchFamily="34" charset="-120"/>
              </a:rPr>
              <a:t>的混合范式</a:t>
            </a:r>
            <a:endParaRPr lang="en-US" sz="1200" dirty="0"/>
          </a:p>
        </p:txBody>
      </p:sp>
      <p:pic>
        <p:nvPicPr>
          <p:cNvPr id="30" name="Image 10" descr="preencoded.png"/>
          <p:cNvPicPr>
            <a:picLocks noChangeAspect="1"/>
          </p:cNvPicPr>
          <p:nvPr/>
        </p:nvPicPr>
        <p:blipFill>
          <a:blip r:embed="rId11"/>
          <a:stretch>
            <a:fillRect/>
          </a:stretch>
        </p:blipFill>
        <p:spPr>
          <a:xfrm>
            <a:off x="6714957" y="3876578"/>
            <a:ext cx="171446" cy="133347"/>
          </a:xfrm>
          <a:prstGeom prst="rect">
            <a:avLst/>
          </a:prstGeom>
        </p:spPr>
      </p:pic>
      <p:sp>
        <p:nvSpPr>
          <p:cNvPr id="31" name="Text 18"/>
          <p:cNvSpPr/>
          <p:nvPr/>
        </p:nvSpPr>
        <p:spPr>
          <a:xfrm>
            <a:off x="7000700" y="3876578"/>
            <a:ext cx="294887" cy="142871"/>
          </a:xfrm>
          <a:prstGeom prst="rect">
            <a:avLst/>
          </a:prstGeom>
          <a:noFill/>
          <a:ln/>
        </p:spPr>
        <p:txBody>
          <a:bodyPr wrap="none" lIns="0" tIns="0" rIns="0" bIns="0" rtlCol="0" anchor="ctr"/>
          <a:lstStyle/>
          <a:p>
            <a:pPr marL="0" indent="0" algn="l">
              <a:buNone/>
            </a:pPr>
            <a:r>
              <a:rPr lang="en-US" sz="1050" b="1" dirty="0">
                <a:solidFill>
                  <a:srgbClr val="0F172A"/>
                </a:solidFill>
                <a:latin typeface="Arial" pitchFamily="34" charset="0"/>
                <a:ea typeface="Arial" pitchFamily="34" charset="-122"/>
                <a:cs typeface="Arial" pitchFamily="34" charset="-120"/>
              </a:rPr>
              <a:t>方法</a:t>
            </a:r>
            <a:endParaRPr lang="en-US" sz="1050" dirty="0"/>
          </a:p>
        </p:txBody>
      </p:sp>
      <p:sp>
        <p:nvSpPr>
          <p:cNvPr id="32" name="Text 19"/>
          <p:cNvSpPr/>
          <p:nvPr/>
        </p:nvSpPr>
        <p:spPr>
          <a:xfrm>
            <a:off x="7000700" y="4086123"/>
            <a:ext cx="4285762"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采用迁移学习，先用大量低成本经典数据（如DFT）预训练神经网络，再用少量高精度量子数据微调</a:t>
            </a:r>
            <a:endParaRPr lang="en-US" sz="1200" dirty="0"/>
          </a:p>
        </p:txBody>
      </p:sp>
      <p:pic>
        <p:nvPicPr>
          <p:cNvPr id="33" name="Image 11" descr="preencoded.png"/>
          <p:cNvPicPr>
            <a:picLocks noChangeAspect="1"/>
          </p:cNvPicPr>
          <p:nvPr/>
        </p:nvPicPr>
        <p:blipFill>
          <a:blip r:embed="rId12"/>
          <a:stretch>
            <a:fillRect/>
          </a:stretch>
        </p:blipFill>
        <p:spPr>
          <a:xfrm>
            <a:off x="6714957" y="4790955"/>
            <a:ext cx="123822" cy="133347"/>
          </a:xfrm>
          <a:prstGeom prst="rect">
            <a:avLst/>
          </a:prstGeom>
        </p:spPr>
      </p:pic>
      <p:sp>
        <p:nvSpPr>
          <p:cNvPr id="34" name="Text 20"/>
          <p:cNvSpPr/>
          <p:nvPr/>
        </p:nvSpPr>
        <p:spPr>
          <a:xfrm>
            <a:off x="6953076" y="4790955"/>
            <a:ext cx="294887" cy="142871"/>
          </a:xfrm>
          <a:prstGeom prst="rect">
            <a:avLst/>
          </a:prstGeom>
          <a:noFill/>
          <a:ln/>
        </p:spPr>
        <p:txBody>
          <a:bodyPr wrap="none" lIns="0" tIns="0" rIns="0" bIns="0" rtlCol="0" anchor="ctr"/>
          <a:lstStyle/>
          <a:p>
            <a:pPr marL="0" indent="0" algn="l">
              <a:buNone/>
            </a:pPr>
            <a:r>
              <a:rPr lang="en-US" sz="1050" b="1" dirty="0">
                <a:solidFill>
                  <a:srgbClr val="0F172A"/>
                </a:solidFill>
                <a:latin typeface="Arial" pitchFamily="34" charset="0"/>
                <a:ea typeface="Arial" pitchFamily="34" charset="-122"/>
                <a:cs typeface="Arial" pitchFamily="34" charset="-120"/>
              </a:rPr>
              <a:t>成果</a:t>
            </a:r>
            <a:endParaRPr lang="en-US" sz="1050" dirty="0"/>
          </a:p>
        </p:txBody>
      </p:sp>
      <p:sp>
        <p:nvSpPr>
          <p:cNvPr id="35" name="Text 21"/>
          <p:cNvSpPr/>
          <p:nvPr/>
        </p:nvSpPr>
        <p:spPr>
          <a:xfrm>
            <a:off x="6953076" y="5000500"/>
            <a:ext cx="4333386" cy="742931"/>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成功模拟了</a:t>
            </a:r>
            <a:r>
              <a:rPr lang="en-US" sz="1200" b="1" dirty="0">
                <a:solidFill>
                  <a:srgbClr val="4338CA"/>
                </a:solidFill>
                <a:latin typeface="Arial" pitchFamily="34" charset="0"/>
                <a:ea typeface="Arial" pitchFamily="34" charset="-122"/>
                <a:cs typeface="Arial" pitchFamily="34" charset="-120"/>
              </a:rPr>
              <a:t>水单体及水二聚体</a:t>
            </a:r>
            <a:r>
              <a:rPr lang="en-US" sz="1200" dirty="0">
                <a:solidFill>
                  <a:srgbClr val="334155"/>
                </a:solidFill>
                <a:latin typeface="Arial" pitchFamily="34" charset="0"/>
                <a:ea typeface="Arial" pitchFamily="34" charset="-122"/>
                <a:cs typeface="Arial" pitchFamily="34" charset="-120"/>
              </a:rPr>
              <a:t>的动力学，通过精确复现O-O和O-H径向分布函数，验证了该框架在预测分子能量与力方面的有效性，为绕过量子硬件直接计算动力学梯度的瓶颈提供了可行方案</a:t>
            </a:r>
            <a:endParaRPr lang="en-US" sz="1200" dirty="0"/>
          </a:p>
        </p:txBody>
      </p:sp>
      <p:pic>
        <p:nvPicPr>
          <p:cNvPr id="36" name="Image 12" descr="preencoded.png"/>
          <p:cNvPicPr>
            <a:picLocks noChangeAspect="1"/>
          </p:cNvPicPr>
          <p:nvPr/>
        </p:nvPicPr>
        <p:blipFill>
          <a:blip r:embed="rId13">
            <a:alphaModFix amt="10000"/>
          </a:blip>
          <a:stretch>
            <a:fillRect/>
          </a:stretch>
        </p:blipFill>
        <p:spPr>
          <a:xfrm>
            <a:off x="10905852" y="5571986"/>
            <a:ext cx="904852" cy="9048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914377" y="457189"/>
            <a:ext cx="10676877"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系统能力与根本限制</a:t>
            </a:r>
            <a:endParaRPr lang="en-US" sz="3000" dirty="0"/>
          </a:p>
        </p:txBody>
      </p:sp>
      <p:sp>
        <p:nvSpPr>
          <p:cNvPr id="5" name="Text 1"/>
          <p:cNvSpPr/>
          <p:nvPr/>
        </p:nvSpPr>
        <p:spPr>
          <a:xfrm>
            <a:off x="914377" y="1181070"/>
            <a:ext cx="9762500" cy="285743"/>
          </a:xfrm>
          <a:prstGeom prst="rect">
            <a:avLst/>
          </a:prstGeom>
          <a:noFill/>
          <a:ln/>
        </p:spPr>
        <p:txBody>
          <a:bodyPr wrap="none" lIns="0" tIns="0" rIns="0" bIns="0" rtlCol="0" anchor="ctr"/>
          <a:lstStyle/>
          <a:p>
            <a:pPr marL="0" indent="0" algn="l">
              <a:buNone/>
            </a:pPr>
            <a:r>
              <a:rPr lang="en-US" sz="1350" dirty="0">
                <a:solidFill>
                  <a:srgbClr val="475569"/>
                </a:solidFill>
                <a:latin typeface="Arial" pitchFamily="34" charset="0"/>
                <a:ea typeface="Arial" pitchFamily="34" charset="-122"/>
                <a:cs typeface="Arial" pitchFamily="34" charset="-120"/>
              </a:rPr>
              <a:t>尽管在特定小体系上取得突破，8量子比特系统在生物分子模拟中仍面临根本性的能力边界与限制：</a:t>
            </a:r>
            <a:endParaRPr lang="en-US" sz="1350" dirty="0"/>
          </a:p>
        </p:txBody>
      </p:sp>
      <p:pic>
        <p:nvPicPr>
          <p:cNvPr id="6" name="Image 2" descr="preencoded.png"/>
          <p:cNvPicPr>
            <a:picLocks noChangeAspect="1"/>
          </p:cNvPicPr>
          <p:nvPr/>
        </p:nvPicPr>
        <p:blipFill>
          <a:blip r:embed="rId5"/>
          <a:stretch>
            <a:fillRect/>
          </a:stretch>
        </p:blipFill>
        <p:spPr>
          <a:xfrm>
            <a:off x="914377" y="1695408"/>
            <a:ext cx="5238619" cy="2400240"/>
          </a:xfrm>
          <a:prstGeom prst="rect">
            <a:avLst/>
          </a:prstGeom>
        </p:spPr>
      </p:pic>
      <p:pic>
        <p:nvPicPr>
          <p:cNvPr id="7" name="Image 3" descr="preencoded.png"/>
          <p:cNvPicPr>
            <a:picLocks noChangeAspect="1"/>
          </p:cNvPicPr>
          <p:nvPr/>
        </p:nvPicPr>
        <p:blipFill>
          <a:blip r:embed="rId6"/>
          <a:stretch>
            <a:fillRect/>
          </a:stretch>
        </p:blipFill>
        <p:spPr>
          <a:xfrm>
            <a:off x="1152496" y="1933527"/>
            <a:ext cx="380990" cy="380990"/>
          </a:xfrm>
          <a:prstGeom prst="rect">
            <a:avLst/>
          </a:prstGeom>
        </p:spPr>
      </p:pic>
      <p:pic>
        <p:nvPicPr>
          <p:cNvPr id="8" name="Image 4" descr="preencoded.png"/>
          <p:cNvPicPr>
            <a:picLocks noChangeAspect="1"/>
          </p:cNvPicPr>
          <p:nvPr/>
        </p:nvPicPr>
        <p:blipFill>
          <a:blip r:embed="rId7"/>
          <a:stretch>
            <a:fillRect/>
          </a:stretch>
        </p:blipFill>
        <p:spPr>
          <a:xfrm>
            <a:off x="1257269" y="2038299"/>
            <a:ext cx="171446" cy="171446"/>
          </a:xfrm>
          <a:prstGeom prst="rect">
            <a:avLst/>
          </a:prstGeom>
        </p:spPr>
      </p:pic>
      <p:sp>
        <p:nvSpPr>
          <p:cNvPr id="9" name="Text 2"/>
          <p:cNvSpPr/>
          <p:nvPr/>
        </p:nvSpPr>
        <p:spPr>
          <a:xfrm>
            <a:off x="1647784" y="1933527"/>
            <a:ext cx="1495007" cy="276218"/>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系统尺度严重受限</a:t>
            </a:r>
            <a:endParaRPr lang="en-US" sz="1500" dirty="0"/>
          </a:p>
        </p:txBody>
      </p:sp>
      <p:sp>
        <p:nvSpPr>
          <p:cNvPr id="10" name="Text 3"/>
          <p:cNvSpPr/>
          <p:nvPr/>
        </p:nvSpPr>
        <p:spPr>
          <a:xfrm>
            <a:off x="1152496" y="2505012"/>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11" name="Text 4"/>
          <p:cNvSpPr/>
          <p:nvPr/>
        </p:nvSpPr>
        <p:spPr>
          <a:xfrm>
            <a:off x="1342991" y="2466913"/>
            <a:ext cx="4590554"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8量子比特仅能编码约</a:t>
            </a:r>
            <a:r>
              <a:rPr lang="en-US" sz="1200" b="1" dirty="0">
                <a:solidFill>
                  <a:srgbClr val="4338CA"/>
                </a:solidFill>
                <a:latin typeface="Arial" pitchFamily="34" charset="0"/>
                <a:ea typeface="Arial" pitchFamily="34" charset="-122"/>
                <a:cs typeface="Arial" pitchFamily="34" charset="-120"/>
              </a:rPr>
              <a:t>8个自旋轨道</a:t>
            </a:r>
            <a:r>
              <a:rPr lang="en-US" sz="1200" dirty="0">
                <a:solidFill>
                  <a:srgbClr val="334155"/>
                </a:solidFill>
                <a:latin typeface="Arial" pitchFamily="34" charset="0"/>
                <a:ea typeface="Arial" pitchFamily="34" charset="-122"/>
                <a:cs typeface="Arial" pitchFamily="34" charset="-120"/>
              </a:rPr>
              <a:t>，仅够描述H₂O、H₄等极小分子或大分子的极小活性空间。</a:t>
            </a:r>
            <a:endParaRPr lang="en-US" sz="1200" dirty="0"/>
          </a:p>
        </p:txBody>
      </p:sp>
      <p:sp>
        <p:nvSpPr>
          <p:cNvPr id="12" name="Text 5"/>
          <p:cNvSpPr/>
          <p:nvPr/>
        </p:nvSpPr>
        <p:spPr>
          <a:xfrm>
            <a:off x="1152496" y="3114597"/>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13" name="Text 6"/>
          <p:cNvSpPr/>
          <p:nvPr/>
        </p:nvSpPr>
        <p:spPr>
          <a:xfrm>
            <a:off x="1342991" y="3076498"/>
            <a:ext cx="4590554" cy="761981"/>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对比：真实蛋白质活性位点（196e⁻, 630轨道）的全相关计算，理论上需要约</a:t>
            </a:r>
            <a:r>
              <a:rPr lang="en-US" sz="1350" b="1" dirty="0">
                <a:solidFill>
                  <a:srgbClr val="4338CA"/>
                </a:solidFill>
                <a:latin typeface="Arial" pitchFamily="34" charset="0"/>
                <a:ea typeface="Arial" pitchFamily="34" charset="-122"/>
                <a:cs typeface="Arial" pitchFamily="34" charset="-120"/>
              </a:rPr>
              <a:t>10³</a:t>
            </a:r>
            <a:r>
              <a:rPr lang="en-US" sz="1200" dirty="0">
                <a:solidFill>
                  <a:srgbClr val="334155"/>
                </a:solidFill>
                <a:latin typeface="Arial" pitchFamily="34" charset="0"/>
                <a:ea typeface="Arial" pitchFamily="34" charset="-122"/>
                <a:cs typeface="Arial" pitchFamily="34" charset="-120"/>
              </a:rPr>
              <a:t>个量子比特，8量子比特远未达到模拟真实生物大分子的规模。</a:t>
            </a:r>
            <a:endParaRPr lang="en-US" sz="1200" dirty="0"/>
          </a:p>
        </p:txBody>
      </p:sp>
      <p:pic>
        <p:nvPicPr>
          <p:cNvPr id="14" name="Image 5" descr="preencoded.png"/>
          <p:cNvPicPr>
            <a:picLocks noChangeAspect="1"/>
          </p:cNvPicPr>
          <p:nvPr/>
        </p:nvPicPr>
        <p:blipFill>
          <a:blip r:embed="rId5"/>
          <a:stretch>
            <a:fillRect/>
          </a:stretch>
        </p:blipFill>
        <p:spPr>
          <a:xfrm>
            <a:off x="6343491" y="1695408"/>
            <a:ext cx="5238619" cy="2400240"/>
          </a:xfrm>
          <a:prstGeom prst="rect">
            <a:avLst/>
          </a:prstGeom>
        </p:spPr>
      </p:pic>
      <p:pic>
        <p:nvPicPr>
          <p:cNvPr id="15" name="Image 6" descr="preencoded.png"/>
          <p:cNvPicPr>
            <a:picLocks noChangeAspect="1"/>
          </p:cNvPicPr>
          <p:nvPr/>
        </p:nvPicPr>
        <p:blipFill>
          <a:blip r:embed="rId6"/>
          <a:stretch>
            <a:fillRect/>
          </a:stretch>
        </p:blipFill>
        <p:spPr>
          <a:xfrm>
            <a:off x="6581610" y="1933527"/>
            <a:ext cx="380990" cy="380990"/>
          </a:xfrm>
          <a:prstGeom prst="rect">
            <a:avLst/>
          </a:prstGeom>
        </p:spPr>
      </p:pic>
      <p:pic>
        <p:nvPicPr>
          <p:cNvPr id="16" name="Image 7" descr="preencoded.png"/>
          <p:cNvPicPr>
            <a:picLocks noChangeAspect="1"/>
          </p:cNvPicPr>
          <p:nvPr/>
        </p:nvPicPr>
        <p:blipFill>
          <a:blip r:embed="rId8"/>
          <a:stretch>
            <a:fillRect/>
          </a:stretch>
        </p:blipFill>
        <p:spPr>
          <a:xfrm>
            <a:off x="6686383" y="2038299"/>
            <a:ext cx="171446" cy="171446"/>
          </a:xfrm>
          <a:prstGeom prst="rect">
            <a:avLst/>
          </a:prstGeom>
        </p:spPr>
      </p:pic>
      <p:sp>
        <p:nvSpPr>
          <p:cNvPr id="17" name="Text 7"/>
          <p:cNvSpPr/>
          <p:nvPr/>
        </p:nvSpPr>
        <p:spPr>
          <a:xfrm>
            <a:off x="7076898" y="1933527"/>
            <a:ext cx="1495007" cy="276218"/>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强烈依赖近似方法</a:t>
            </a:r>
            <a:endParaRPr lang="en-US" sz="1500" dirty="0"/>
          </a:p>
        </p:txBody>
      </p:sp>
      <p:sp>
        <p:nvSpPr>
          <p:cNvPr id="18" name="Text 8"/>
          <p:cNvSpPr/>
          <p:nvPr/>
        </p:nvSpPr>
        <p:spPr>
          <a:xfrm>
            <a:off x="6581610" y="2505012"/>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19" name="Text 9"/>
          <p:cNvSpPr/>
          <p:nvPr/>
        </p:nvSpPr>
        <p:spPr>
          <a:xfrm>
            <a:off x="6772106" y="2466913"/>
            <a:ext cx="4590554"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所有演示均依赖</a:t>
            </a:r>
            <a:r>
              <a:rPr lang="en-US" sz="1200" b="1" dirty="0">
                <a:solidFill>
                  <a:srgbClr val="4338CA"/>
                </a:solidFill>
                <a:latin typeface="Arial" pitchFamily="34" charset="0"/>
                <a:ea typeface="Arial" pitchFamily="34" charset="-122"/>
                <a:cs typeface="Arial" pitchFamily="34" charset="-120"/>
              </a:rPr>
              <a:t>"活性空间近似"</a:t>
            </a:r>
            <a:r>
              <a:rPr lang="en-US" sz="1200" dirty="0">
                <a:solidFill>
                  <a:srgbClr val="334155"/>
                </a:solidFill>
                <a:latin typeface="Arial" pitchFamily="34" charset="0"/>
                <a:ea typeface="Arial" pitchFamily="34" charset="-122"/>
                <a:cs typeface="Arial" pitchFamily="34" charset="-120"/>
              </a:rPr>
              <a:t>与</a:t>
            </a:r>
            <a:r>
              <a:rPr lang="en-US" sz="1200" b="1" dirty="0">
                <a:solidFill>
                  <a:srgbClr val="4338CA"/>
                </a:solidFill>
                <a:latin typeface="Arial" pitchFamily="34" charset="0"/>
                <a:ea typeface="Arial" pitchFamily="34" charset="-122"/>
                <a:cs typeface="Arial" pitchFamily="34" charset="-120"/>
              </a:rPr>
              <a:t>"最小基组（如STO-3G）"</a:t>
            </a:r>
            <a:r>
              <a:rPr lang="en-US" sz="1200" dirty="0">
                <a:solidFill>
                  <a:srgbClr val="334155"/>
                </a:solidFill>
                <a:latin typeface="Arial" pitchFamily="34" charset="0"/>
                <a:ea typeface="Arial" pitchFamily="34" charset="-122"/>
                <a:cs typeface="Arial" pitchFamily="34" charset="-120"/>
              </a:rPr>
              <a:t>双重简化，会引入基组不完备、冻结轨道等近似误差。</a:t>
            </a:r>
            <a:endParaRPr lang="en-US" sz="1200" dirty="0"/>
          </a:p>
        </p:txBody>
      </p:sp>
      <p:sp>
        <p:nvSpPr>
          <p:cNvPr id="20" name="Text 10"/>
          <p:cNvSpPr/>
          <p:nvPr/>
        </p:nvSpPr>
        <p:spPr>
          <a:xfrm>
            <a:off x="6581610" y="3114597"/>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21" name="Text 11"/>
          <p:cNvSpPr/>
          <p:nvPr/>
        </p:nvSpPr>
        <p:spPr>
          <a:xfrm>
            <a:off x="6772106" y="3076498"/>
            <a:ext cx="4276237" cy="247644"/>
          </a:xfrm>
          <a:prstGeom prst="rect">
            <a:avLst/>
          </a:prstGeom>
          <a:noFill/>
          <a:ln/>
        </p:spPr>
        <p:txBody>
          <a:bodyPr wrap="non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活性空间的选择本身具有主观性和挑战性，影响结果的普适性。</a:t>
            </a:r>
            <a:endParaRPr lang="en-US" sz="1200" dirty="0"/>
          </a:p>
        </p:txBody>
      </p:sp>
      <p:pic>
        <p:nvPicPr>
          <p:cNvPr id="22" name="Image 8" descr="preencoded.png"/>
          <p:cNvPicPr>
            <a:picLocks noChangeAspect="1"/>
          </p:cNvPicPr>
          <p:nvPr/>
        </p:nvPicPr>
        <p:blipFill>
          <a:blip r:embed="rId9"/>
          <a:stretch>
            <a:fillRect/>
          </a:stretch>
        </p:blipFill>
        <p:spPr>
          <a:xfrm>
            <a:off x="914377" y="4276618"/>
            <a:ext cx="5238619" cy="2133547"/>
          </a:xfrm>
          <a:prstGeom prst="rect">
            <a:avLst/>
          </a:prstGeom>
        </p:spPr>
      </p:pic>
      <p:pic>
        <p:nvPicPr>
          <p:cNvPr id="23" name="Image 9" descr="preencoded.png"/>
          <p:cNvPicPr>
            <a:picLocks noChangeAspect="1"/>
          </p:cNvPicPr>
          <p:nvPr/>
        </p:nvPicPr>
        <p:blipFill>
          <a:blip r:embed="rId6"/>
          <a:stretch>
            <a:fillRect/>
          </a:stretch>
        </p:blipFill>
        <p:spPr>
          <a:xfrm>
            <a:off x="1152496" y="4514737"/>
            <a:ext cx="380990" cy="380990"/>
          </a:xfrm>
          <a:prstGeom prst="rect">
            <a:avLst/>
          </a:prstGeom>
        </p:spPr>
      </p:pic>
      <p:pic>
        <p:nvPicPr>
          <p:cNvPr id="24" name="Image 10" descr="preencoded.png"/>
          <p:cNvPicPr>
            <a:picLocks noChangeAspect="1"/>
          </p:cNvPicPr>
          <p:nvPr/>
        </p:nvPicPr>
        <p:blipFill>
          <a:blip r:embed="rId10"/>
          <a:stretch>
            <a:fillRect/>
          </a:stretch>
        </p:blipFill>
        <p:spPr>
          <a:xfrm>
            <a:off x="1285843" y="4619510"/>
            <a:ext cx="133347" cy="171446"/>
          </a:xfrm>
          <a:prstGeom prst="rect">
            <a:avLst/>
          </a:prstGeom>
        </p:spPr>
      </p:pic>
      <p:sp>
        <p:nvSpPr>
          <p:cNvPr id="25" name="Text 12"/>
          <p:cNvSpPr/>
          <p:nvPr/>
        </p:nvSpPr>
        <p:spPr>
          <a:xfrm>
            <a:off x="1647784" y="4514737"/>
            <a:ext cx="1685502" cy="276218"/>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对硬件噪声高度敏感</a:t>
            </a:r>
            <a:endParaRPr lang="en-US" sz="1500" dirty="0"/>
          </a:p>
        </p:txBody>
      </p:sp>
      <p:sp>
        <p:nvSpPr>
          <p:cNvPr id="26" name="Text 13"/>
          <p:cNvSpPr/>
          <p:nvPr/>
        </p:nvSpPr>
        <p:spPr>
          <a:xfrm>
            <a:off x="1152496" y="5086223"/>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27" name="Text 14"/>
          <p:cNvSpPr/>
          <p:nvPr/>
        </p:nvSpPr>
        <p:spPr>
          <a:xfrm>
            <a:off x="1342991" y="5048124"/>
            <a:ext cx="4590554"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即使8比特线路，CNOT门错误率（约</a:t>
            </a:r>
            <a:r>
              <a:rPr lang="en-US" sz="1200" b="1" dirty="0">
                <a:solidFill>
                  <a:srgbClr val="4338CA"/>
                </a:solidFill>
                <a:latin typeface="Arial" pitchFamily="34" charset="0"/>
                <a:ea typeface="Arial" pitchFamily="34" charset="-122"/>
                <a:cs typeface="Arial" pitchFamily="34" charset="-120"/>
              </a:rPr>
              <a:t>1%</a:t>
            </a:r>
            <a:r>
              <a:rPr lang="en-US" sz="1200" dirty="0">
                <a:solidFill>
                  <a:srgbClr val="334155"/>
                </a:solidFill>
                <a:latin typeface="Arial" pitchFamily="34" charset="0"/>
                <a:ea typeface="Arial" pitchFamily="34" charset="-122"/>
                <a:cs typeface="Arial" pitchFamily="34" charset="-120"/>
              </a:rPr>
              <a:t>）也会导致约</a:t>
            </a:r>
            <a:r>
              <a:rPr lang="en-US" sz="1200" b="1" dirty="0">
                <a:solidFill>
                  <a:srgbClr val="4338CA"/>
                </a:solidFill>
                <a:latin typeface="Arial" pitchFamily="34" charset="0"/>
                <a:ea typeface="Arial" pitchFamily="34" charset="-122"/>
                <a:cs typeface="Arial" pitchFamily="34" charset="-120"/>
              </a:rPr>
              <a:t>20%</a:t>
            </a:r>
            <a:r>
              <a:rPr lang="en-US" sz="1200" dirty="0">
                <a:solidFill>
                  <a:srgbClr val="334155"/>
                </a:solidFill>
                <a:latin typeface="Arial" pitchFamily="34" charset="0"/>
                <a:ea typeface="Arial" pitchFamily="34" charset="-122"/>
                <a:cs typeface="Arial" pitchFamily="34" charset="-120"/>
              </a:rPr>
              <a:t>的线路预期错误率。</a:t>
            </a:r>
            <a:endParaRPr lang="en-US" sz="1200" dirty="0"/>
          </a:p>
        </p:txBody>
      </p:sp>
      <p:sp>
        <p:nvSpPr>
          <p:cNvPr id="28" name="Text 15"/>
          <p:cNvSpPr/>
          <p:nvPr/>
        </p:nvSpPr>
        <p:spPr>
          <a:xfrm>
            <a:off x="1152496" y="5695808"/>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29" name="Text 16"/>
          <p:cNvSpPr/>
          <p:nvPr/>
        </p:nvSpPr>
        <p:spPr>
          <a:xfrm>
            <a:off x="1342991" y="5657709"/>
            <a:ext cx="4590554"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必须依赖复杂的误差缓解技术（如读出误差缓解、对称性验证）才能获得有意义的结果，增加了测量复杂度和成本。</a:t>
            </a:r>
            <a:endParaRPr lang="en-US" sz="1200" dirty="0"/>
          </a:p>
        </p:txBody>
      </p:sp>
      <p:pic>
        <p:nvPicPr>
          <p:cNvPr id="30" name="Image 11" descr="preencoded.png"/>
          <p:cNvPicPr>
            <a:picLocks noChangeAspect="1"/>
          </p:cNvPicPr>
          <p:nvPr/>
        </p:nvPicPr>
        <p:blipFill>
          <a:blip r:embed="rId9"/>
          <a:stretch>
            <a:fillRect/>
          </a:stretch>
        </p:blipFill>
        <p:spPr>
          <a:xfrm>
            <a:off x="6343491" y="4276618"/>
            <a:ext cx="5238619" cy="2133547"/>
          </a:xfrm>
          <a:prstGeom prst="rect">
            <a:avLst/>
          </a:prstGeom>
        </p:spPr>
      </p:pic>
      <p:pic>
        <p:nvPicPr>
          <p:cNvPr id="31" name="Image 12" descr="preencoded.png"/>
          <p:cNvPicPr>
            <a:picLocks noChangeAspect="1"/>
          </p:cNvPicPr>
          <p:nvPr/>
        </p:nvPicPr>
        <p:blipFill>
          <a:blip r:embed="rId6"/>
          <a:stretch>
            <a:fillRect/>
          </a:stretch>
        </p:blipFill>
        <p:spPr>
          <a:xfrm>
            <a:off x="6581610" y="4514737"/>
            <a:ext cx="380990" cy="380990"/>
          </a:xfrm>
          <a:prstGeom prst="rect">
            <a:avLst/>
          </a:prstGeom>
        </p:spPr>
      </p:pic>
      <p:pic>
        <p:nvPicPr>
          <p:cNvPr id="32" name="Image 13" descr="preencoded.png"/>
          <p:cNvPicPr>
            <a:picLocks noChangeAspect="1"/>
          </p:cNvPicPr>
          <p:nvPr/>
        </p:nvPicPr>
        <p:blipFill>
          <a:blip r:embed="rId11"/>
          <a:stretch>
            <a:fillRect/>
          </a:stretch>
        </p:blipFill>
        <p:spPr>
          <a:xfrm>
            <a:off x="6667333" y="4619510"/>
            <a:ext cx="219070" cy="171446"/>
          </a:xfrm>
          <a:prstGeom prst="rect">
            <a:avLst/>
          </a:prstGeom>
        </p:spPr>
      </p:pic>
      <p:sp>
        <p:nvSpPr>
          <p:cNvPr id="33" name="Text 17"/>
          <p:cNvSpPr/>
          <p:nvPr/>
        </p:nvSpPr>
        <p:spPr>
          <a:xfrm>
            <a:off x="7076898" y="4514737"/>
            <a:ext cx="2237938" cy="276218"/>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无法直接计算动力学关键量</a:t>
            </a:r>
            <a:endParaRPr lang="en-US" sz="1500" dirty="0"/>
          </a:p>
        </p:txBody>
      </p:sp>
      <p:sp>
        <p:nvSpPr>
          <p:cNvPr id="34" name="Text 18"/>
          <p:cNvSpPr/>
          <p:nvPr/>
        </p:nvSpPr>
        <p:spPr>
          <a:xfrm>
            <a:off x="6581610" y="5086223"/>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35" name="Text 19"/>
          <p:cNvSpPr/>
          <p:nvPr/>
        </p:nvSpPr>
        <p:spPr>
          <a:xfrm>
            <a:off x="6772106" y="5048124"/>
            <a:ext cx="4590554"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分子动力学模拟所需的</a:t>
            </a:r>
            <a:r>
              <a:rPr lang="en-US" sz="1200" b="1" dirty="0">
                <a:solidFill>
                  <a:srgbClr val="4338CA"/>
                </a:solidFill>
                <a:latin typeface="Arial" pitchFamily="34" charset="0"/>
                <a:ea typeface="Arial" pitchFamily="34" charset="-122"/>
                <a:cs typeface="Arial" pitchFamily="34" charset="-120"/>
              </a:rPr>
              <a:t>势能面梯度（力）</a:t>
            </a:r>
            <a:r>
              <a:rPr lang="en-US" sz="1200" dirty="0">
                <a:solidFill>
                  <a:srgbClr val="334155"/>
                </a:solidFill>
                <a:latin typeface="Arial" pitchFamily="34" charset="0"/>
                <a:ea typeface="Arial" pitchFamily="34" charset="-122"/>
                <a:cs typeface="Arial" pitchFamily="34" charset="-120"/>
              </a:rPr>
              <a:t>难以直接从量子硬件高效获取。</a:t>
            </a:r>
            <a:endParaRPr lang="en-US" sz="1200" dirty="0"/>
          </a:p>
        </p:txBody>
      </p:sp>
      <p:sp>
        <p:nvSpPr>
          <p:cNvPr id="36" name="Text 20"/>
          <p:cNvSpPr/>
          <p:nvPr/>
        </p:nvSpPr>
        <p:spPr>
          <a:xfrm>
            <a:off x="6581610" y="5695808"/>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37" name="Text 21"/>
          <p:cNvSpPr/>
          <p:nvPr/>
        </p:nvSpPr>
        <p:spPr>
          <a:xfrm>
            <a:off x="6772106" y="5657709"/>
            <a:ext cx="4590554"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当前方案需借助机器学习模型进行二次预测，引入了额外的模型不确定性和计算开销，尚未实现"量子硬件原生动力学"。</a:t>
            </a:r>
            <a:endParaRPr lang="en-US" sz="1200" dirty="0"/>
          </a:p>
        </p:txBody>
      </p:sp>
      <p:pic>
        <p:nvPicPr>
          <p:cNvPr id="38" name="Image 14" descr="preencoded.png"/>
          <p:cNvPicPr>
            <a:picLocks noChangeAspect="1"/>
          </p:cNvPicPr>
          <p:nvPr/>
        </p:nvPicPr>
        <p:blipFill>
          <a:blip r:embed="rId12">
            <a:alphaModFix amt="10000"/>
          </a:blip>
          <a:stretch>
            <a:fillRect/>
          </a:stretch>
        </p:blipFill>
        <p:spPr>
          <a:xfrm>
            <a:off x="10905852" y="5571986"/>
            <a:ext cx="904852" cy="9048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761981" y="380990"/>
            <a:ext cx="10829273"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微重力环境的分子影响</a:t>
            </a:r>
            <a:endParaRPr lang="en-US" sz="3000" dirty="0"/>
          </a:p>
        </p:txBody>
      </p:sp>
      <p:sp>
        <p:nvSpPr>
          <p:cNvPr id="5" name="Text 1"/>
          <p:cNvSpPr/>
          <p:nvPr/>
        </p:nvSpPr>
        <p:spPr>
          <a:xfrm>
            <a:off x="761981" y="1066773"/>
            <a:ext cx="9762500" cy="561961"/>
          </a:xfrm>
          <a:prstGeom prst="rect">
            <a:avLst/>
          </a:prstGeom>
          <a:noFill/>
          <a:ln/>
        </p:spPr>
        <p:txBody>
          <a:bodyPr wrap="square" lIns="0" tIns="0" rIns="0" bIns="0" rtlCol="0" anchor="ctr"/>
          <a:lstStyle/>
          <a:p>
            <a:pPr marL="0" indent="0" algn="l">
              <a:buNone/>
            </a:pPr>
            <a:r>
              <a:rPr lang="en-US" sz="1350" dirty="0">
                <a:solidFill>
                  <a:srgbClr val="475569"/>
                </a:solidFill>
                <a:latin typeface="Arial" pitchFamily="34" charset="0"/>
                <a:ea typeface="Arial" pitchFamily="34" charset="-122"/>
                <a:cs typeface="Arial" pitchFamily="34" charset="-120"/>
              </a:rPr>
              <a:t>微重力环境作为一种特殊的物理条件，主要通过以下途径在分子层面影响蛋白质-药物相互作用，为量子模拟提供了新的研究场景：</a:t>
            </a:r>
            <a:endParaRPr lang="en-US" sz="1350" dirty="0"/>
          </a:p>
        </p:txBody>
      </p:sp>
      <p:pic>
        <p:nvPicPr>
          <p:cNvPr id="6" name="Image 2" descr="preencoded.png"/>
          <p:cNvPicPr>
            <a:picLocks noChangeAspect="1"/>
          </p:cNvPicPr>
          <p:nvPr/>
        </p:nvPicPr>
        <p:blipFill>
          <a:blip r:embed="rId5"/>
          <a:stretch>
            <a:fillRect/>
          </a:stretch>
        </p:blipFill>
        <p:spPr>
          <a:xfrm>
            <a:off x="761981" y="1857329"/>
            <a:ext cx="3486063" cy="3990875"/>
          </a:xfrm>
          <a:prstGeom prst="rect">
            <a:avLst/>
          </a:prstGeom>
        </p:spPr>
      </p:pic>
      <p:pic>
        <p:nvPicPr>
          <p:cNvPr id="7" name="Image 3" descr="preencoded.png"/>
          <p:cNvPicPr>
            <a:picLocks noChangeAspect="1"/>
          </p:cNvPicPr>
          <p:nvPr/>
        </p:nvPicPr>
        <p:blipFill>
          <a:blip r:embed="rId6"/>
          <a:stretch>
            <a:fillRect/>
          </a:stretch>
        </p:blipFill>
        <p:spPr>
          <a:xfrm>
            <a:off x="962001" y="2057349"/>
            <a:ext cx="380990" cy="380990"/>
          </a:xfrm>
          <a:prstGeom prst="rect">
            <a:avLst/>
          </a:prstGeom>
        </p:spPr>
      </p:pic>
      <p:pic>
        <p:nvPicPr>
          <p:cNvPr id="8" name="Image 4" descr="preencoded.png"/>
          <p:cNvPicPr>
            <a:picLocks noChangeAspect="1"/>
          </p:cNvPicPr>
          <p:nvPr/>
        </p:nvPicPr>
        <p:blipFill>
          <a:blip r:embed="rId7"/>
          <a:stretch>
            <a:fillRect/>
          </a:stretch>
        </p:blipFill>
        <p:spPr>
          <a:xfrm>
            <a:off x="1066773" y="2162121"/>
            <a:ext cx="171446" cy="171446"/>
          </a:xfrm>
          <a:prstGeom prst="rect">
            <a:avLst/>
          </a:prstGeom>
        </p:spPr>
      </p:pic>
      <p:sp>
        <p:nvSpPr>
          <p:cNvPr id="9" name="Text 2"/>
          <p:cNvSpPr/>
          <p:nvPr/>
        </p:nvSpPr>
        <p:spPr>
          <a:xfrm>
            <a:off x="1457289" y="2124022"/>
            <a:ext cx="1866473" cy="238119"/>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改变扩散与结合动力学</a:t>
            </a:r>
            <a:endParaRPr lang="en-US" sz="1500" dirty="0"/>
          </a:p>
        </p:txBody>
      </p:sp>
      <p:sp>
        <p:nvSpPr>
          <p:cNvPr id="10" name="Text 3"/>
          <p:cNvSpPr/>
          <p:nvPr/>
        </p:nvSpPr>
        <p:spPr>
          <a:xfrm>
            <a:off x="962001" y="2628834"/>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11" name="Text 4"/>
          <p:cNvSpPr/>
          <p:nvPr/>
        </p:nvSpPr>
        <p:spPr>
          <a:xfrm>
            <a:off x="1152496" y="2590735"/>
            <a:ext cx="2904672" cy="628634"/>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消除自然对流与沉降，分子传质更依赖布朗运动，改变配体接近结合位点的速率与路径。</a:t>
            </a:r>
            <a:endParaRPr lang="en-US" sz="1200" dirty="0"/>
          </a:p>
        </p:txBody>
      </p:sp>
      <p:sp>
        <p:nvSpPr>
          <p:cNvPr id="12" name="Text 5"/>
          <p:cNvSpPr/>
          <p:nvPr/>
        </p:nvSpPr>
        <p:spPr>
          <a:xfrm>
            <a:off x="962001" y="3371766"/>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13" name="Text 6"/>
          <p:cNvSpPr/>
          <p:nvPr/>
        </p:nvSpPr>
        <p:spPr>
          <a:xfrm>
            <a:off x="1152496" y="3352716"/>
            <a:ext cx="2123641" cy="161921"/>
          </a:xfrm>
          <a:prstGeom prst="rect">
            <a:avLst/>
          </a:prstGeom>
          <a:noFill/>
          <a:ln/>
        </p:spPr>
        <p:txBody>
          <a:bodyPr wrap="non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影响"笼效应"，从而改变结合（</a:t>
            </a:r>
            <a:endParaRPr lang="en-US" sz="1200" dirty="0"/>
          </a:p>
        </p:txBody>
      </p:sp>
      <p:sp>
        <p:nvSpPr>
          <p:cNvPr id="14" name="Text 7"/>
          <p:cNvSpPr/>
          <p:nvPr/>
        </p:nvSpPr>
        <p:spPr>
          <a:xfrm>
            <a:off x="1152496" y="3352716"/>
            <a:ext cx="2780850" cy="371466"/>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）与解离（</a:t>
            </a:r>
            <a:endParaRPr lang="en-US" sz="1200" dirty="0"/>
          </a:p>
        </p:txBody>
      </p:sp>
      <p:sp>
        <p:nvSpPr>
          <p:cNvPr id="15" name="Text 8"/>
          <p:cNvSpPr/>
          <p:nvPr/>
        </p:nvSpPr>
        <p:spPr>
          <a:xfrm>
            <a:off x="1676358" y="3562261"/>
            <a:ext cx="1228314" cy="161921"/>
          </a:xfrm>
          <a:prstGeom prst="rect">
            <a:avLst/>
          </a:prstGeom>
          <a:noFill/>
          <a:ln/>
        </p:spPr>
        <p:txBody>
          <a:bodyPr wrap="non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）的动力学过程。</a:t>
            </a:r>
            <a:endParaRPr lang="en-US" sz="1200" dirty="0"/>
          </a:p>
        </p:txBody>
      </p:sp>
      <p:pic>
        <p:nvPicPr>
          <p:cNvPr id="16" name="Image 5" descr="preencoded.png"/>
          <p:cNvPicPr>
            <a:picLocks noChangeAspect="1"/>
          </p:cNvPicPr>
          <p:nvPr/>
        </p:nvPicPr>
        <p:blipFill>
          <a:blip r:embed="rId5"/>
          <a:stretch>
            <a:fillRect/>
          </a:stretch>
        </p:blipFill>
        <p:spPr>
          <a:xfrm>
            <a:off x="4438539" y="1857329"/>
            <a:ext cx="3486063" cy="3990875"/>
          </a:xfrm>
          <a:prstGeom prst="rect">
            <a:avLst/>
          </a:prstGeom>
        </p:spPr>
      </p:pic>
      <p:pic>
        <p:nvPicPr>
          <p:cNvPr id="17" name="Image 6" descr="preencoded.png"/>
          <p:cNvPicPr>
            <a:picLocks noChangeAspect="1"/>
          </p:cNvPicPr>
          <p:nvPr/>
        </p:nvPicPr>
        <p:blipFill>
          <a:blip r:embed="rId6"/>
          <a:stretch>
            <a:fillRect/>
          </a:stretch>
        </p:blipFill>
        <p:spPr>
          <a:xfrm>
            <a:off x="4638559" y="2104972"/>
            <a:ext cx="380990" cy="380990"/>
          </a:xfrm>
          <a:prstGeom prst="rect">
            <a:avLst/>
          </a:prstGeom>
        </p:spPr>
      </p:pic>
      <p:pic>
        <p:nvPicPr>
          <p:cNvPr id="18" name="Image 7" descr="preencoded.png"/>
          <p:cNvPicPr>
            <a:picLocks noChangeAspect="1"/>
          </p:cNvPicPr>
          <p:nvPr/>
        </p:nvPicPr>
        <p:blipFill>
          <a:blip r:embed="rId8"/>
          <a:stretch>
            <a:fillRect/>
          </a:stretch>
        </p:blipFill>
        <p:spPr>
          <a:xfrm>
            <a:off x="4762381" y="2209745"/>
            <a:ext cx="133347" cy="171446"/>
          </a:xfrm>
          <a:prstGeom prst="rect">
            <a:avLst/>
          </a:prstGeom>
        </p:spPr>
      </p:pic>
      <p:sp>
        <p:nvSpPr>
          <p:cNvPr id="19" name="Text 9"/>
          <p:cNvSpPr/>
          <p:nvPr/>
        </p:nvSpPr>
        <p:spPr>
          <a:xfrm>
            <a:off x="5133847" y="2057349"/>
            <a:ext cx="2599879" cy="476238"/>
          </a:xfrm>
          <a:prstGeom prst="rect">
            <a:avLst/>
          </a:prstGeom>
          <a:noFill/>
          <a:ln/>
        </p:spPr>
        <p:txBody>
          <a:bodyPr wrap="squar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扰动溶剂化效应与疏水相互作用</a:t>
            </a:r>
            <a:endParaRPr lang="en-US" sz="1500" dirty="0"/>
          </a:p>
        </p:txBody>
      </p:sp>
      <p:sp>
        <p:nvSpPr>
          <p:cNvPr id="20" name="Text 10"/>
          <p:cNvSpPr/>
          <p:nvPr/>
        </p:nvSpPr>
        <p:spPr>
          <a:xfrm>
            <a:off x="4638559" y="2724082"/>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21" name="Text 11"/>
          <p:cNvSpPr/>
          <p:nvPr/>
        </p:nvSpPr>
        <p:spPr>
          <a:xfrm>
            <a:off x="4819530" y="2685983"/>
            <a:ext cx="2904672" cy="628634"/>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影响蛋白质周围水分子结构、动态行为及气泡形成，改变蛋白质和药物的溶剂化层结构。</a:t>
            </a:r>
            <a:endParaRPr lang="en-US" sz="1200" dirty="0"/>
          </a:p>
        </p:txBody>
      </p:sp>
      <p:sp>
        <p:nvSpPr>
          <p:cNvPr id="22" name="Text 12"/>
          <p:cNvSpPr/>
          <p:nvPr/>
        </p:nvSpPr>
        <p:spPr>
          <a:xfrm>
            <a:off x="4638559" y="3467013"/>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23" name="Text 13"/>
          <p:cNvSpPr/>
          <p:nvPr/>
        </p:nvSpPr>
        <p:spPr>
          <a:xfrm>
            <a:off x="4819530" y="3428914"/>
            <a:ext cx="2904672" cy="419090"/>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疏水效应与水分子重排密切相关，微重力可能改变疏水相互作用的强度与特性。</a:t>
            </a:r>
            <a:endParaRPr lang="en-US" sz="1200" dirty="0"/>
          </a:p>
        </p:txBody>
      </p:sp>
      <p:pic>
        <p:nvPicPr>
          <p:cNvPr id="24" name="Image 8" descr="preencoded.png"/>
          <p:cNvPicPr>
            <a:picLocks noChangeAspect="1"/>
          </p:cNvPicPr>
          <p:nvPr/>
        </p:nvPicPr>
        <p:blipFill>
          <a:blip r:embed="rId9"/>
          <a:stretch>
            <a:fillRect/>
          </a:stretch>
        </p:blipFill>
        <p:spPr>
          <a:xfrm>
            <a:off x="8105572" y="1857329"/>
            <a:ext cx="3486063" cy="3990875"/>
          </a:xfrm>
          <a:prstGeom prst="rect">
            <a:avLst/>
          </a:prstGeom>
        </p:spPr>
      </p:pic>
      <p:pic>
        <p:nvPicPr>
          <p:cNvPr id="25" name="Image 9" descr="preencoded.png"/>
          <p:cNvPicPr>
            <a:picLocks noChangeAspect="1"/>
          </p:cNvPicPr>
          <p:nvPr/>
        </p:nvPicPr>
        <p:blipFill>
          <a:blip r:embed="rId6"/>
          <a:stretch>
            <a:fillRect/>
          </a:stretch>
        </p:blipFill>
        <p:spPr>
          <a:xfrm>
            <a:off x="8305592" y="2057349"/>
            <a:ext cx="380990" cy="380990"/>
          </a:xfrm>
          <a:prstGeom prst="rect">
            <a:avLst/>
          </a:prstGeom>
        </p:spPr>
      </p:pic>
      <p:pic>
        <p:nvPicPr>
          <p:cNvPr id="26" name="Image 10" descr="preencoded.png"/>
          <p:cNvPicPr>
            <a:picLocks noChangeAspect="1"/>
          </p:cNvPicPr>
          <p:nvPr/>
        </p:nvPicPr>
        <p:blipFill>
          <a:blip r:embed="rId10"/>
          <a:stretch>
            <a:fillRect/>
          </a:stretch>
        </p:blipFill>
        <p:spPr>
          <a:xfrm>
            <a:off x="8410365" y="2162121"/>
            <a:ext cx="171446" cy="171446"/>
          </a:xfrm>
          <a:prstGeom prst="rect">
            <a:avLst/>
          </a:prstGeom>
        </p:spPr>
      </p:pic>
      <p:sp>
        <p:nvSpPr>
          <p:cNvPr id="27" name="Text 14"/>
          <p:cNvSpPr/>
          <p:nvPr/>
        </p:nvSpPr>
        <p:spPr>
          <a:xfrm>
            <a:off x="8800880" y="2124022"/>
            <a:ext cx="1866473" cy="238119"/>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调制蛋白质构象动力学</a:t>
            </a:r>
            <a:endParaRPr lang="en-US" sz="1500" dirty="0"/>
          </a:p>
        </p:txBody>
      </p:sp>
      <p:sp>
        <p:nvSpPr>
          <p:cNvPr id="28" name="Text 15"/>
          <p:cNvSpPr/>
          <p:nvPr/>
        </p:nvSpPr>
        <p:spPr>
          <a:xfrm>
            <a:off x="8305592" y="2628834"/>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29" name="Text 16"/>
          <p:cNvSpPr/>
          <p:nvPr/>
        </p:nvSpPr>
        <p:spPr>
          <a:xfrm>
            <a:off x="8496088" y="2590735"/>
            <a:ext cx="2904672" cy="419090"/>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物理应力变化间接影响蛋白质全局或局部的构象涨落与功能运动模式。</a:t>
            </a:r>
            <a:endParaRPr lang="en-US" sz="1200" dirty="0"/>
          </a:p>
        </p:txBody>
      </p:sp>
      <p:sp>
        <p:nvSpPr>
          <p:cNvPr id="30" name="Text 17"/>
          <p:cNvSpPr/>
          <p:nvPr/>
        </p:nvSpPr>
        <p:spPr>
          <a:xfrm>
            <a:off x="8305592" y="3162221"/>
            <a:ext cx="123441" cy="228594"/>
          </a:xfrm>
          <a:prstGeom prst="rect">
            <a:avLst/>
          </a:prstGeom>
          <a:noFill/>
          <a:ln/>
        </p:spPr>
        <p:txBody>
          <a:bodyPr wrap="none" lIns="0" tIns="0" rIns="0" bIns="0" rtlCol="0" anchor="ctr"/>
          <a:lstStyle/>
          <a:p>
            <a:pPr marL="0" indent="0" algn="l">
              <a:buNone/>
            </a:pPr>
            <a:r>
              <a:rPr lang="en-US" sz="1200" b="1" dirty="0">
                <a:solidFill>
                  <a:srgbClr val="4338CA"/>
                </a:solidFill>
                <a:latin typeface="等线" pitchFamily="34" charset="0"/>
                <a:ea typeface="等线" pitchFamily="34" charset="-122"/>
                <a:cs typeface="等线" pitchFamily="34" charset="-120"/>
              </a:rPr>
              <a:t>•</a:t>
            </a:r>
            <a:endParaRPr lang="en-US" sz="1200" dirty="0"/>
          </a:p>
        </p:txBody>
      </p:sp>
      <p:sp>
        <p:nvSpPr>
          <p:cNvPr id="31" name="Text 18"/>
          <p:cNvSpPr/>
          <p:nvPr/>
        </p:nvSpPr>
        <p:spPr>
          <a:xfrm>
            <a:off x="8496088" y="3124122"/>
            <a:ext cx="2904672" cy="628634"/>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改变结合口袋形状、柔性及大尺度构象转换速率，进而影响药物结合亲和力与特异性。</a:t>
            </a:r>
            <a:endParaRPr lang="en-US" sz="1200" dirty="0"/>
          </a:p>
        </p:txBody>
      </p:sp>
      <p:pic>
        <p:nvPicPr>
          <p:cNvPr id="32" name="Image 11" descr="preencoded.png"/>
          <p:cNvPicPr>
            <a:picLocks noChangeAspect="1"/>
          </p:cNvPicPr>
          <p:nvPr/>
        </p:nvPicPr>
        <p:blipFill>
          <a:blip r:embed="rId11"/>
          <a:stretch>
            <a:fillRect/>
          </a:stretch>
        </p:blipFill>
        <p:spPr>
          <a:xfrm>
            <a:off x="761981" y="6067273"/>
            <a:ext cx="10820129" cy="409565"/>
          </a:xfrm>
          <a:prstGeom prst="rect">
            <a:avLst/>
          </a:prstGeom>
        </p:spPr>
      </p:pic>
      <p:sp>
        <p:nvSpPr>
          <p:cNvPr id="33" name="Text 19"/>
          <p:cNvSpPr/>
          <p:nvPr/>
        </p:nvSpPr>
        <p:spPr>
          <a:xfrm>
            <a:off x="761981" y="6229194"/>
            <a:ext cx="10829273" cy="247644"/>
          </a:xfrm>
          <a:prstGeom prst="rect">
            <a:avLst/>
          </a:prstGeom>
          <a:noFill/>
          <a:ln/>
        </p:spPr>
        <p:txBody>
          <a:bodyPr wrap="none" lIns="0" tIns="0" rIns="0" bIns="0" rtlCol="0" anchor="ctr"/>
          <a:lstStyle/>
          <a:p>
            <a:pPr marL="0" indent="0" algn="l">
              <a:buNone/>
            </a:pPr>
            <a:r>
              <a:rPr lang="en-US" sz="1200" b="1" dirty="0">
                <a:solidFill>
                  <a:srgbClr val="4338CA"/>
                </a:solidFill>
                <a:latin typeface="Arial" pitchFamily="34" charset="0"/>
                <a:ea typeface="Arial" pitchFamily="34" charset="-122"/>
                <a:cs typeface="Arial" pitchFamily="34" charset="-120"/>
              </a:rPr>
              <a:t>研究意义：</a:t>
            </a:r>
            <a:r>
              <a:rPr lang="en-US" sz="1200" dirty="0">
                <a:solidFill>
                  <a:srgbClr val="334155"/>
                </a:solidFill>
                <a:latin typeface="Arial" pitchFamily="34" charset="0"/>
                <a:ea typeface="Arial" pitchFamily="34" charset="-122"/>
                <a:cs typeface="Arial" pitchFamily="34" charset="-120"/>
              </a:rPr>
              <a:t>这些影响机制为利用量子计算精确模拟微重力下的生物分子过程提供了明确的物理切入点。</a:t>
            </a:r>
            <a:endParaRPr lang="en-US" sz="1200" dirty="0"/>
          </a:p>
        </p:txBody>
      </p:sp>
      <p:pic>
        <p:nvPicPr>
          <p:cNvPr id="34" name="Image 12" descr="preencoded.png"/>
          <p:cNvPicPr>
            <a:picLocks noChangeAspect="1"/>
          </p:cNvPicPr>
          <p:nvPr/>
        </p:nvPicPr>
        <p:blipFill>
          <a:blip r:embed="rId12">
            <a:alphaModFix amt="10000"/>
          </a:blip>
          <a:stretch>
            <a:fillRect/>
          </a:stretch>
        </p:blipFill>
        <p:spPr>
          <a:xfrm>
            <a:off x="10905852" y="5571986"/>
            <a:ext cx="904852" cy="9048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914377" y="457189"/>
            <a:ext cx="10676877"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DNA损伤的量子模拟优势</a:t>
            </a:r>
            <a:endParaRPr lang="en-US" sz="3000" dirty="0"/>
          </a:p>
        </p:txBody>
      </p:sp>
      <p:sp>
        <p:nvSpPr>
          <p:cNvPr id="5" name="Text 1"/>
          <p:cNvSpPr/>
          <p:nvPr/>
        </p:nvSpPr>
        <p:spPr>
          <a:xfrm>
            <a:off x="914377" y="1142971"/>
            <a:ext cx="9762500" cy="285743"/>
          </a:xfrm>
          <a:prstGeom prst="rect">
            <a:avLst/>
          </a:prstGeom>
          <a:noFill/>
          <a:ln/>
        </p:spPr>
        <p:txBody>
          <a:bodyPr wrap="none" lIns="0" tIns="0" rIns="0" bIns="0" rtlCol="0" anchor="ctr"/>
          <a:lstStyle/>
          <a:p>
            <a:pPr marL="0" indent="0" algn="l">
              <a:buNone/>
            </a:pPr>
            <a:r>
              <a:rPr lang="en-US" sz="1350" dirty="0">
                <a:solidFill>
                  <a:srgbClr val="475569"/>
                </a:solidFill>
                <a:latin typeface="Arial" pitchFamily="34" charset="0"/>
                <a:ea typeface="Arial" pitchFamily="34" charset="-122"/>
                <a:cs typeface="Arial" pitchFamily="34" charset="-120"/>
              </a:rPr>
              <a:t>量子计算在模拟DNA损伤的关键微观过程中，展现出超越经典方法的精度潜力。</a:t>
            </a:r>
            <a:endParaRPr lang="en-US" sz="1350" dirty="0"/>
          </a:p>
        </p:txBody>
      </p:sp>
      <p:pic>
        <p:nvPicPr>
          <p:cNvPr id="6" name="Image 2" descr="preencoded.png"/>
          <p:cNvPicPr>
            <a:picLocks noChangeAspect="1"/>
          </p:cNvPicPr>
          <p:nvPr/>
        </p:nvPicPr>
        <p:blipFill>
          <a:blip r:embed="rId5"/>
          <a:stretch>
            <a:fillRect/>
          </a:stretch>
        </p:blipFill>
        <p:spPr>
          <a:xfrm>
            <a:off x="914377" y="1733507"/>
            <a:ext cx="3428914" cy="4676658"/>
          </a:xfrm>
          <a:prstGeom prst="rect">
            <a:avLst/>
          </a:prstGeom>
        </p:spPr>
      </p:pic>
      <p:pic>
        <p:nvPicPr>
          <p:cNvPr id="7" name="Image 3" descr="preencoded.png"/>
          <p:cNvPicPr>
            <a:picLocks noChangeAspect="1"/>
          </p:cNvPicPr>
          <p:nvPr/>
        </p:nvPicPr>
        <p:blipFill>
          <a:blip r:embed="rId6"/>
          <a:stretch>
            <a:fillRect/>
          </a:stretch>
        </p:blipFill>
        <p:spPr>
          <a:xfrm>
            <a:off x="1152496" y="1971626"/>
            <a:ext cx="380990" cy="380990"/>
          </a:xfrm>
          <a:prstGeom prst="rect">
            <a:avLst/>
          </a:prstGeom>
        </p:spPr>
      </p:pic>
      <p:pic>
        <p:nvPicPr>
          <p:cNvPr id="8" name="Image 4" descr="preencoded.png"/>
          <p:cNvPicPr>
            <a:picLocks noChangeAspect="1"/>
          </p:cNvPicPr>
          <p:nvPr/>
        </p:nvPicPr>
        <p:blipFill>
          <a:blip r:embed="rId7"/>
          <a:stretch>
            <a:fillRect/>
          </a:stretch>
        </p:blipFill>
        <p:spPr>
          <a:xfrm>
            <a:off x="1257269" y="2076398"/>
            <a:ext cx="171446" cy="171446"/>
          </a:xfrm>
          <a:prstGeom prst="rect">
            <a:avLst/>
          </a:prstGeom>
        </p:spPr>
      </p:pic>
      <p:sp>
        <p:nvSpPr>
          <p:cNvPr id="9" name="Text 2"/>
          <p:cNvSpPr/>
          <p:nvPr/>
        </p:nvSpPr>
        <p:spPr>
          <a:xfrm>
            <a:off x="1647784" y="1971626"/>
            <a:ext cx="1685502" cy="276218"/>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高精度量子效应模拟</a:t>
            </a:r>
            <a:endParaRPr lang="en-US" sz="1500" dirty="0"/>
          </a:p>
        </p:txBody>
      </p:sp>
      <p:sp>
        <p:nvSpPr>
          <p:cNvPr id="10" name="Text 3"/>
          <p:cNvSpPr/>
          <p:nvPr/>
        </p:nvSpPr>
        <p:spPr>
          <a:xfrm>
            <a:off x="1152496" y="2505012"/>
            <a:ext cx="2961820"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能精确描述</a:t>
            </a:r>
            <a:r>
              <a:rPr lang="en-US" sz="1200" b="1" dirty="0">
                <a:solidFill>
                  <a:srgbClr val="4338CA"/>
                </a:solidFill>
                <a:latin typeface="Arial" pitchFamily="34" charset="0"/>
                <a:ea typeface="Arial" pitchFamily="34" charset="-122"/>
                <a:cs typeface="Arial" pitchFamily="34" charset="-120"/>
              </a:rPr>
              <a:t>电荷转移（CT）</a:t>
            </a:r>
            <a:r>
              <a:rPr lang="en-US" sz="1200" dirty="0">
                <a:solidFill>
                  <a:srgbClr val="334155"/>
                </a:solidFill>
                <a:latin typeface="Arial" pitchFamily="34" charset="0"/>
                <a:ea typeface="Arial" pitchFamily="34" charset="-122"/>
                <a:cs typeface="Arial" pitchFamily="34" charset="-120"/>
              </a:rPr>
              <a:t>、</a:t>
            </a:r>
            <a:r>
              <a:rPr lang="en-US" sz="1200" b="1" dirty="0">
                <a:solidFill>
                  <a:srgbClr val="4338CA"/>
                </a:solidFill>
                <a:latin typeface="Arial" pitchFamily="34" charset="0"/>
                <a:ea typeface="Arial" pitchFamily="34" charset="-122"/>
                <a:cs typeface="Arial" pitchFamily="34" charset="-120"/>
              </a:rPr>
              <a:t>质子隧穿</a:t>
            </a:r>
            <a:r>
              <a:rPr lang="en-US" sz="1200" dirty="0">
                <a:solidFill>
                  <a:srgbClr val="334155"/>
                </a:solidFill>
                <a:latin typeface="Arial" pitchFamily="34" charset="0"/>
                <a:ea typeface="Arial" pitchFamily="34" charset="-122"/>
                <a:cs typeface="Arial" pitchFamily="34" charset="-120"/>
              </a:rPr>
              <a:t>等非经典效应。</a:t>
            </a:r>
            <a:endParaRPr lang="en-US" sz="1200" dirty="0"/>
          </a:p>
        </p:txBody>
      </p:sp>
      <p:sp>
        <p:nvSpPr>
          <p:cNvPr id="11" name="Text 4"/>
          <p:cNvSpPr/>
          <p:nvPr/>
        </p:nvSpPr>
        <p:spPr>
          <a:xfrm>
            <a:off x="1152496" y="3114597"/>
            <a:ext cx="2961820" cy="742931"/>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例如，G-C碱基对中的质子隧穿对突变频率的影响，以及8-氧代鸟嘌呤（8oxoG）作为"电荷陷阱"改变DNA导电性的机制。</a:t>
            </a:r>
            <a:endParaRPr lang="en-US" sz="1200" dirty="0"/>
          </a:p>
        </p:txBody>
      </p:sp>
      <p:pic>
        <p:nvPicPr>
          <p:cNvPr id="12" name="Image 5" descr="preencoded.png"/>
          <p:cNvPicPr>
            <a:picLocks noChangeAspect="1"/>
          </p:cNvPicPr>
          <p:nvPr/>
        </p:nvPicPr>
        <p:blipFill>
          <a:blip r:embed="rId5"/>
          <a:stretch>
            <a:fillRect/>
          </a:stretch>
        </p:blipFill>
        <p:spPr>
          <a:xfrm>
            <a:off x="4533787" y="1733507"/>
            <a:ext cx="3428914" cy="4676658"/>
          </a:xfrm>
          <a:prstGeom prst="rect">
            <a:avLst/>
          </a:prstGeom>
        </p:spPr>
      </p:pic>
      <p:pic>
        <p:nvPicPr>
          <p:cNvPr id="13" name="Image 6" descr="preencoded.png"/>
          <p:cNvPicPr>
            <a:picLocks noChangeAspect="1"/>
          </p:cNvPicPr>
          <p:nvPr/>
        </p:nvPicPr>
        <p:blipFill>
          <a:blip r:embed="rId6"/>
          <a:stretch>
            <a:fillRect/>
          </a:stretch>
        </p:blipFill>
        <p:spPr>
          <a:xfrm>
            <a:off x="4771906" y="1971626"/>
            <a:ext cx="380990" cy="380990"/>
          </a:xfrm>
          <a:prstGeom prst="rect">
            <a:avLst/>
          </a:prstGeom>
        </p:spPr>
      </p:pic>
      <p:pic>
        <p:nvPicPr>
          <p:cNvPr id="14" name="Image 7" descr="preencoded.png"/>
          <p:cNvPicPr>
            <a:picLocks noChangeAspect="1"/>
          </p:cNvPicPr>
          <p:nvPr/>
        </p:nvPicPr>
        <p:blipFill>
          <a:blip r:embed="rId8"/>
          <a:stretch>
            <a:fillRect/>
          </a:stretch>
        </p:blipFill>
        <p:spPr>
          <a:xfrm>
            <a:off x="4876678" y="2076398"/>
            <a:ext cx="171446" cy="171446"/>
          </a:xfrm>
          <a:prstGeom prst="rect">
            <a:avLst/>
          </a:prstGeom>
        </p:spPr>
      </p:pic>
      <p:sp>
        <p:nvSpPr>
          <p:cNvPr id="15" name="Text 5"/>
          <p:cNvSpPr/>
          <p:nvPr/>
        </p:nvSpPr>
        <p:spPr>
          <a:xfrm>
            <a:off x="5267193" y="1971626"/>
            <a:ext cx="2323661" cy="276218"/>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高精度分子动力学（QMD）</a:t>
            </a:r>
            <a:endParaRPr lang="en-US" sz="1500" dirty="0"/>
          </a:p>
        </p:txBody>
      </p:sp>
      <p:sp>
        <p:nvSpPr>
          <p:cNvPr id="16" name="Text 6"/>
          <p:cNvSpPr/>
          <p:nvPr/>
        </p:nvSpPr>
        <p:spPr>
          <a:xfrm>
            <a:off x="4771906" y="2505012"/>
            <a:ext cx="2961820"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通过量子计算数据</a:t>
            </a:r>
            <a:r>
              <a:rPr lang="en-US" sz="1200" b="1" dirty="0">
                <a:solidFill>
                  <a:srgbClr val="4338CA"/>
                </a:solidFill>
                <a:latin typeface="Arial" pitchFamily="34" charset="0"/>
                <a:ea typeface="Arial" pitchFamily="34" charset="-122"/>
                <a:cs typeface="Arial" pitchFamily="34" charset="-120"/>
              </a:rPr>
              <a:t>修正经典力场</a:t>
            </a:r>
            <a:r>
              <a:rPr lang="en-US" sz="1200" dirty="0">
                <a:solidFill>
                  <a:srgbClr val="334155"/>
                </a:solidFill>
                <a:latin typeface="Arial" pitchFamily="34" charset="0"/>
                <a:ea typeface="Arial" pitchFamily="34" charset="-122"/>
                <a:cs typeface="Arial" pitchFamily="34" charset="-120"/>
              </a:rPr>
              <a:t>或构建</a:t>
            </a:r>
            <a:r>
              <a:rPr lang="en-US" sz="1200" b="1" dirty="0">
                <a:solidFill>
                  <a:srgbClr val="4338CA"/>
                </a:solidFill>
                <a:latin typeface="Arial" pitchFamily="34" charset="0"/>
                <a:ea typeface="Arial" pitchFamily="34" charset="-122"/>
                <a:cs typeface="Arial" pitchFamily="34" charset="-120"/>
              </a:rPr>
              <a:t>从头算势能面</a:t>
            </a:r>
            <a:r>
              <a:rPr lang="en-US" sz="1200" dirty="0">
                <a:solidFill>
                  <a:srgbClr val="334155"/>
                </a:solidFill>
                <a:latin typeface="Arial" pitchFamily="34" charset="0"/>
                <a:ea typeface="Arial" pitchFamily="34" charset="-122"/>
                <a:cs typeface="Arial" pitchFamily="34" charset="-120"/>
              </a:rPr>
              <a:t>。</a:t>
            </a:r>
            <a:endParaRPr lang="en-US" sz="1200" dirty="0"/>
          </a:p>
        </p:txBody>
      </p:sp>
      <p:sp>
        <p:nvSpPr>
          <p:cNvPr id="17" name="Text 7"/>
          <p:cNvSpPr/>
          <p:nvPr/>
        </p:nvSpPr>
        <p:spPr>
          <a:xfrm>
            <a:off x="4771906" y="3114597"/>
            <a:ext cx="2961820"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可更精确地模拟DNA在损伤过程中的结构变化、溶剂相互作用及长期动力学行为。</a:t>
            </a:r>
            <a:endParaRPr lang="en-US" sz="1200" dirty="0"/>
          </a:p>
        </p:txBody>
      </p:sp>
      <p:pic>
        <p:nvPicPr>
          <p:cNvPr id="18" name="Image 8" descr="preencoded.png"/>
          <p:cNvPicPr>
            <a:picLocks noChangeAspect="1"/>
          </p:cNvPicPr>
          <p:nvPr/>
        </p:nvPicPr>
        <p:blipFill>
          <a:blip r:embed="rId5"/>
          <a:stretch>
            <a:fillRect/>
          </a:stretch>
        </p:blipFill>
        <p:spPr>
          <a:xfrm>
            <a:off x="8153196" y="1733507"/>
            <a:ext cx="3428914" cy="4676658"/>
          </a:xfrm>
          <a:prstGeom prst="rect">
            <a:avLst/>
          </a:prstGeom>
        </p:spPr>
      </p:pic>
      <p:pic>
        <p:nvPicPr>
          <p:cNvPr id="19" name="Image 9" descr="preencoded.png"/>
          <p:cNvPicPr>
            <a:picLocks noChangeAspect="1"/>
          </p:cNvPicPr>
          <p:nvPr/>
        </p:nvPicPr>
        <p:blipFill>
          <a:blip r:embed="rId6"/>
          <a:stretch>
            <a:fillRect/>
          </a:stretch>
        </p:blipFill>
        <p:spPr>
          <a:xfrm>
            <a:off x="8391315" y="1971626"/>
            <a:ext cx="380990" cy="380990"/>
          </a:xfrm>
          <a:prstGeom prst="rect">
            <a:avLst/>
          </a:prstGeom>
        </p:spPr>
      </p:pic>
      <p:pic>
        <p:nvPicPr>
          <p:cNvPr id="20" name="Image 10" descr="preencoded.png"/>
          <p:cNvPicPr>
            <a:picLocks noChangeAspect="1"/>
          </p:cNvPicPr>
          <p:nvPr/>
        </p:nvPicPr>
        <p:blipFill>
          <a:blip r:embed="rId9"/>
          <a:stretch>
            <a:fillRect/>
          </a:stretch>
        </p:blipFill>
        <p:spPr>
          <a:xfrm>
            <a:off x="8496088" y="2076398"/>
            <a:ext cx="171446" cy="171446"/>
          </a:xfrm>
          <a:prstGeom prst="rect">
            <a:avLst/>
          </a:prstGeom>
        </p:spPr>
      </p:pic>
      <p:sp>
        <p:nvSpPr>
          <p:cNvPr id="21" name="Text 8"/>
          <p:cNvSpPr/>
          <p:nvPr/>
        </p:nvSpPr>
        <p:spPr>
          <a:xfrm>
            <a:off x="8886603" y="1971626"/>
            <a:ext cx="1495007" cy="276218"/>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高效电子结构计算</a:t>
            </a:r>
            <a:endParaRPr lang="en-US" sz="1500" dirty="0"/>
          </a:p>
        </p:txBody>
      </p:sp>
      <p:sp>
        <p:nvSpPr>
          <p:cNvPr id="22" name="Text 9"/>
          <p:cNvSpPr/>
          <p:nvPr/>
        </p:nvSpPr>
        <p:spPr>
          <a:xfrm>
            <a:off x="8391315" y="2505012"/>
            <a:ext cx="2961820"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利用</a:t>
            </a:r>
            <a:r>
              <a:rPr lang="en-US" sz="1200" b="1" dirty="0">
                <a:solidFill>
                  <a:srgbClr val="4338CA"/>
                </a:solidFill>
                <a:latin typeface="Arial" pitchFamily="34" charset="0"/>
                <a:ea typeface="Arial" pitchFamily="34" charset="-122"/>
                <a:cs typeface="Arial" pitchFamily="34" charset="-120"/>
              </a:rPr>
              <a:t>VQE、VQD</a:t>
            </a:r>
            <a:r>
              <a:rPr lang="en-US" sz="1200" dirty="0">
                <a:solidFill>
                  <a:srgbClr val="334155"/>
                </a:solidFill>
                <a:latin typeface="Arial" pitchFamily="34" charset="0"/>
                <a:ea typeface="Arial" pitchFamily="34" charset="-122"/>
                <a:cs typeface="Arial" pitchFamily="34" charset="-120"/>
              </a:rPr>
              <a:t>等量子算法，可高效计算DNA损伤体系的基态与激发态能量。</a:t>
            </a:r>
            <a:endParaRPr lang="en-US" sz="1200" dirty="0"/>
          </a:p>
        </p:txBody>
      </p:sp>
      <p:sp>
        <p:nvSpPr>
          <p:cNvPr id="23" name="Text 10"/>
          <p:cNvSpPr/>
          <p:nvPr/>
        </p:nvSpPr>
        <p:spPr>
          <a:xfrm>
            <a:off x="8391315" y="3114597"/>
            <a:ext cx="2961820"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模拟非绝热动力学过程，突破经典方法在处理强关联电子体系时的计算瓶颈。</a:t>
            </a:r>
            <a:endParaRPr lang="en-US" sz="1200" dirty="0"/>
          </a:p>
        </p:txBody>
      </p:sp>
      <p:pic>
        <p:nvPicPr>
          <p:cNvPr id="24" name="Image 11" descr="preencoded.png"/>
          <p:cNvPicPr>
            <a:picLocks noChangeAspect="1"/>
          </p:cNvPicPr>
          <p:nvPr/>
        </p:nvPicPr>
        <p:blipFill>
          <a:blip r:embed="rId10">
            <a:alphaModFix amt="10000"/>
          </a:blip>
          <a:stretch>
            <a:fillRect/>
          </a:stretch>
        </p:blipFill>
        <p:spPr>
          <a:xfrm>
            <a:off x="10905852" y="5571986"/>
            <a:ext cx="904852" cy="9048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761981" y="457189"/>
            <a:ext cx="10829273"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核心科研问题一</a:t>
            </a:r>
            <a:endParaRPr lang="en-US" sz="3000" dirty="0"/>
          </a:p>
        </p:txBody>
      </p:sp>
      <p:sp>
        <p:nvSpPr>
          <p:cNvPr id="5" name="Text 1"/>
          <p:cNvSpPr/>
          <p:nvPr/>
        </p:nvSpPr>
        <p:spPr>
          <a:xfrm>
            <a:off x="761981" y="1219170"/>
            <a:ext cx="8543331" cy="285743"/>
          </a:xfrm>
          <a:prstGeom prst="rect">
            <a:avLst/>
          </a:prstGeom>
          <a:noFill/>
          <a:ln/>
        </p:spPr>
        <p:txBody>
          <a:bodyPr wrap="none" lIns="0" tIns="0" rIns="0" bIns="0" rtlCol="0" anchor="ctr"/>
          <a:lstStyle/>
          <a:p>
            <a:pPr marL="0" indent="0" algn="l">
              <a:buNone/>
            </a:pPr>
            <a:r>
              <a:rPr lang="en-US" sz="1350" dirty="0">
                <a:solidFill>
                  <a:srgbClr val="475569"/>
                </a:solidFill>
                <a:latin typeface="Arial" pitchFamily="34" charset="0"/>
                <a:ea typeface="Arial" pitchFamily="34" charset="-122"/>
                <a:cs typeface="Arial" pitchFamily="34" charset="-120"/>
              </a:rPr>
              <a:t>基于</a:t>
            </a:r>
            <a:r>
              <a:rPr lang="en-US" sz="1350" b="1" dirty="0">
                <a:solidFill>
                  <a:srgbClr val="4338CA"/>
                </a:solidFill>
                <a:latin typeface="Arial" pitchFamily="34" charset="0"/>
                <a:ea typeface="Arial" pitchFamily="34" charset="-122"/>
                <a:cs typeface="Arial" pitchFamily="34" charset="-120"/>
              </a:rPr>
              <a:t>8量子比特</a:t>
            </a:r>
            <a:r>
              <a:rPr lang="en-US" sz="1350" dirty="0">
                <a:solidFill>
                  <a:srgbClr val="475569"/>
                </a:solidFill>
                <a:latin typeface="Arial" pitchFamily="34" charset="0"/>
                <a:ea typeface="Arial" pitchFamily="34" charset="-122"/>
                <a:cs typeface="Arial" pitchFamily="34" charset="-120"/>
              </a:rPr>
              <a:t>系统的能力边界与量子-机器学习协同框架，我们提出首个可执行的验证性问题。</a:t>
            </a:r>
            <a:endParaRPr lang="en-US" sz="1350" dirty="0"/>
          </a:p>
        </p:txBody>
      </p:sp>
      <p:pic>
        <p:nvPicPr>
          <p:cNvPr id="6" name="Image 2" descr="preencoded.png"/>
          <p:cNvPicPr>
            <a:picLocks noChangeAspect="1"/>
          </p:cNvPicPr>
          <p:nvPr/>
        </p:nvPicPr>
        <p:blipFill>
          <a:blip r:embed="rId5"/>
          <a:stretch>
            <a:fillRect/>
          </a:stretch>
        </p:blipFill>
        <p:spPr>
          <a:xfrm>
            <a:off x="761981" y="2438339"/>
            <a:ext cx="10820129" cy="2505012"/>
          </a:xfrm>
          <a:prstGeom prst="rect">
            <a:avLst/>
          </a:prstGeom>
        </p:spPr>
      </p:pic>
      <p:pic>
        <p:nvPicPr>
          <p:cNvPr id="7" name="Image 3" descr="preencoded.png"/>
          <p:cNvPicPr>
            <a:picLocks noChangeAspect="1"/>
          </p:cNvPicPr>
          <p:nvPr/>
        </p:nvPicPr>
        <p:blipFill>
          <a:blip r:embed="rId6"/>
          <a:stretch>
            <a:fillRect/>
          </a:stretch>
        </p:blipFill>
        <p:spPr>
          <a:xfrm>
            <a:off x="1181070" y="2866953"/>
            <a:ext cx="228594" cy="228594"/>
          </a:xfrm>
          <a:prstGeom prst="rect">
            <a:avLst/>
          </a:prstGeom>
        </p:spPr>
      </p:pic>
      <p:sp>
        <p:nvSpPr>
          <p:cNvPr id="8" name="Text 2"/>
          <p:cNvSpPr/>
          <p:nvPr/>
        </p:nvSpPr>
        <p:spPr>
          <a:xfrm>
            <a:off x="1523962" y="2828854"/>
            <a:ext cx="1352135" cy="304792"/>
          </a:xfrm>
          <a:prstGeom prst="rect">
            <a:avLst/>
          </a:prstGeom>
          <a:noFill/>
          <a:ln/>
        </p:spPr>
        <p:txBody>
          <a:bodyPr wrap="none" lIns="0" tIns="0" rIns="0" bIns="0" rtlCol="0" anchor="ctr"/>
          <a:lstStyle/>
          <a:p>
            <a:pPr marL="0" indent="0" algn="l">
              <a:buNone/>
            </a:pPr>
            <a:r>
              <a:rPr lang="en-US" sz="1800" b="1" dirty="0">
                <a:solidFill>
                  <a:srgbClr val="4338CA"/>
                </a:solidFill>
                <a:latin typeface="Arial" pitchFamily="34" charset="0"/>
                <a:ea typeface="Arial" pitchFamily="34" charset="-122"/>
                <a:cs typeface="Arial" pitchFamily="34" charset="-120"/>
              </a:rPr>
              <a:t>核心验证问题</a:t>
            </a:r>
            <a:endParaRPr lang="en-US" sz="1800" dirty="0"/>
          </a:p>
        </p:txBody>
      </p:sp>
      <p:sp>
        <p:nvSpPr>
          <p:cNvPr id="9" name="Text 3"/>
          <p:cNvSpPr/>
          <p:nvPr/>
        </p:nvSpPr>
        <p:spPr>
          <a:xfrm>
            <a:off x="1181070" y="3324142"/>
            <a:ext cx="10019669" cy="609585"/>
          </a:xfrm>
          <a:prstGeom prst="rect">
            <a:avLst/>
          </a:prstGeom>
          <a:noFill/>
          <a:ln/>
        </p:spPr>
        <p:txBody>
          <a:bodyPr wrap="square" lIns="0" tIns="0" rIns="0" bIns="0" rtlCol="0" anchor="ctr"/>
          <a:lstStyle/>
          <a:p>
            <a:pPr marL="0" indent="0" algn="l">
              <a:buNone/>
            </a:pPr>
            <a:r>
              <a:rPr lang="en-US" sz="1500" dirty="0">
                <a:solidFill>
                  <a:srgbClr val="0F172A"/>
                </a:solidFill>
                <a:latin typeface="Arial" pitchFamily="34" charset="0"/>
                <a:ea typeface="Arial" pitchFamily="34" charset="-122"/>
                <a:cs typeface="Arial" pitchFamily="34" charset="-120"/>
              </a:rPr>
              <a:t>能否在</a:t>
            </a:r>
            <a:r>
              <a:rPr lang="en-US" sz="1500" b="1" dirty="0">
                <a:solidFill>
                  <a:srgbClr val="4338CA"/>
                </a:solidFill>
                <a:latin typeface="Arial" pitchFamily="34" charset="0"/>
                <a:ea typeface="Arial" pitchFamily="34" charset="-122"/>
                <a:cs typeface="Arial" pitchFamily="34" charset="-120"/>
              </a:rPr>
              <a:t>8量子比特</a:t>
            </a:r>
            <a:r>
              <a:rPr lang="en-US" sz="1500" dirty="0">
                <a:solidFill>
                  <a:srgbClr val="0F172A"/>
                </a:solidFill>
                <a:latin typeface="Arial" pitchFamily="34" charset="0"/>
                <a:ea typeface="Arial" pitchFamily="34" charset="-122"/>
                <a:cs typeface="Arial" pitchFamily="34" charset="-120"/>
              </a:rPr>
              <a:t>噪声处理器上，通过</a:t>
            </a:r>
            <a:r>
              <a:rPr lang="en-US" sz="1500" b="1" dirty="0">
                <a:solidFill>
                  <a:srgbClr val="4338CA"/>
                </a:solidFill>
                <a:latin typeface="Arial" pitchFamily="34" charset="0"/>
                <a:ea typeface="Arial" pitchFamily="34" charset="-122"/>
                <a:cs typeface="Arial" pitchFamily="34" charset="-120"/>
              </a:rPr>
              <a:t>迁移学习框架</a:t>
            </a:r>
            <a:r>
              <a:rPr lang="en-US" sz="1500" dirty="0">
                <a:solidFill>
                  <a:srgbClr val="0F172A"/>
                </a:solidFill>
                <a:latin typeface="Arial" pitchFamily="34" charset="0"/>
                <a:ea typeface="Arial" pitchFamily="34" charset="-122"/>
                <a:cs typeface="Arial" pitchFamily="34" charset="-120"/>
              </a:rPr>
              <a:t>，以</a:t>
            </a:r>
            <a:r>
              <a:rPr lang="en-US" sz="1500" b="1" dirty="0">
                <a:solidFill>
                  <a:srgbClr val="4338CA"/>
                </a:solidFill>
                <a:latin typeface="Arial" pitchFamily="34" charset="0"/>
                <a:ea typeface="Arial" pitchFamily="34" charset="-122"/>
                <a:cs typeface="Arial" pitchFamily="34" charset="-120"/>
              </a:rPr>
              <a:t>≤50次</a:t>
            </a:r>
            <a:r>
              <a:rPr lang="en-US" sz="1500" dirty="0">
                <a:solidFill>
                  <a:srgbClr val="0F172A"/>
                </a:solidFill>
                <a:latin typeface="Arial" pitchFamily="34" charset="0"/>
                <a:ea typeface="Arial" pitchFamily="34" charset="-122"/>
                <a:cs typeface="Arial" pitchFamily="34" charset="-120"/>
              </a:rPr>
              <a:t>量子能量评估，训练出能准确重现</a:t>
            </a:r>
            <a:r>
              <a:rPr lang="en-US" sz="1500" b="1" dirty="0">
                <a:solidFill>
                  <a:srgbClr val="4338CA"/>
                </a:solidFill>
                <a:latin typeface="Arial" pitchFamily="34" charset="0"/>
                <a:ea typeface="Arial" pitchFamily="34" charset="-122"/>
                <a:cs typeface="Arial" pitchFamily="34" charset="-120"/>
              </a:rPr>
              <a:t>G-C碱基对质子转移自由能面</a:t>
            </a:r>
            <a:r>
              <a:rPr lang="en-US" sz="1500" dirty="0">
                <a:solidFill>
                  <a:srgbClr val="0F172A"/>
                </a:solidFill>
                <a:latin typeface="Arial" pitchFamily="34" charset="0"/>
                <a:ea typeface="Arial" pitchFamily="34" charset="-122"/>
                <a:cs typeface="Arial" pitchFamily="34" charset="-120"/>
              </a:rPr>
              <a:t>（误差</a:t>
            </a:r>
            <a:r>
              <a:rPr lang="en-US" sz="1500" b="1" dirty="0">
                <a:solidFill>
                  <a:srgbClr val="4338CA"/>
                </a:solidFill>
                <a:latin typeface="Arial" pitchFamily="34" charset="0"/>
                <a:ea typeface="Arial" pitchFamily="34" charset="-122"/>
                <a:cs typeface="Arial" pitchFamily="34" charset="-120"/>
              </a:rPr>
              <a:t>≤0.5 kcal/mol</a:t>
            </a:r>
            <a:r>
              <a:rPr lang="en-US" sz="1500" dirty="0">
                <a:solidFill>
                  <a:srgbClr val="0F172A"/>
                </a:solidFill>
                <a:latin typeface="Arial" pitchFamily="34" charset="0"/>
                <a:ea typeface="Arial" pitchFamily="34" charset="-122"/>
                <a:cs typeface="Arial" pitchFamily="34" charset="-120"/>
              </a:rPr>
              <a:t>）的神经网络势能？</a:t>
            </a:r>
            <a:endParaRPr lang="en-US" sz="1500" dirty="0"/>
          </a:p>
        </p:txBody>
      </p:sp>
      <p:sp>
        <p:nvSpPr>
          <p:cNvPr id="10" name="Text 4"/>
          <p:cNvSpPr/>
          <p:nvPr/>
        </p:nvSpPr>
        <p:spPr>
          <a:xfrm>
            <a:off x="1181070" y="4124222"/>
            <a:ext cx="10019669" cy="428614"/>
          </a:xfrm>
          <a:prstGeom prst="rect">
            <a:avLst/>
          </a:prstGeom>
          <a:noFill/>
          <a:ln/>
        </p:spPr>
        <p:txBody>
          <a:bodyPr wrap="square" lIns="0" tIns="0" rIns="0" bIns="0" rtlCol="0" anchor="ctr"/>
          <a:lstStyle/>
          <a:p>
            <a:pPr marL="0" indent="0" algn="l">
              <a:buNone/>
            </a:pPr>
            <a:r>
              <a:rPr lang="en-US" sz="1350" dirty="0">
                <a:solidFill>
                  <a:srgbClr val="334155"/>
                </a:solidFill>
                <a:latin typeface="Arial" pitchFamily="34" charset="0"/>
                <a:ea typeface="Arial" pitchFamily="34" charset="-122"/>
                <a:cs typeface="Arial" pitchFamily="34" charset="-120"/>
              </a:rPr>
              <a:t>并进一步利用该势能，预测</a:t>
            </a:r>
            <a:r>
              <a:rPr lang="en-US" sz="1350" b="1" dirty="0">
                <a:solidFill>
                  <a:srgbClr val="4338CA"/>
                </a:solidFill>
                <a:latin typeface="Arial" pitchFamily="34" charset="0"/>
                <a:ea typeface="Arial" pitchFamily="34" charset="-122"/>
                <a:cs typeface="Arial" pitchFamily="34" charset="-120"/>
              </a:rPr>
              <a:t>氧化损伤（8oxoG）</a:t>
            </a:r>
            <a:r>
              <a:rPr lang="en-US" sz="1350" dirty="0">
                <a:solidFill>
                  <a:srgbClr val="334155"/>
                </a:solidFill>
                <a:latin typeface="Arial" pitchFamily="34" charset="0"/>
                <a:ea typeface="Arial" pitchFamily="34" charset="-122"/>
                <a:cs typeface="Arial" pitchFamily="34" charset="-120"/>
              </a:rPr>
              <a:t>对质子转移速率的影响？</a:t>
            </a:r>
            <a:endParaRPr lang="en-US" sz="1350" dirty="0"/>
          </a:p>
        </p:txBody>
      </p:sp>
      <p:pic>
        <p:nvPicPr>
          <p:cNvPr id="11" name="Image 4" descr="preencoded.png"/>
          <p:cNvPicPr>
            <a:picLocks noChangeAspect="1"/>
          </p:cNvPicPr>
          <p:nvPr/>
        </p:nvPicPr>
        <p:blipFill>
          <a:blip r:embed="rId7"/>
          <a:stretch>
            <a:fillRect/>
          </a:stretch>
        </p:blipFill>
        <p:spPr>
          <a:xfrm>
            <a:off x="761981" y="5876778"/>
            <a:ext cx="10820129" cy="523862"/>
          </a:xfrm>
          <a:prstGeom prst="rect">
            <a:avLst/>
          </a:prstGeom>
        </p:spPr>
      </p:pic>
      <p:pic>
        <p:nvPicPr>
          <p:cNvPr id="12" name="Image 5" descr="preencoded.png"/>
          <p:cNvPicPr>
            <a:picLocks noChangeAspect="1"/>
          </p:cNvPicPr>
          <p:nvPr/>
        </p:nvPicPr>
        <p:blipFill>
          <a:blip r:embed="rId8"/>
          <a:stretch>
            <a:fillRect/>
          </a:stretch>
        </p:blipFill>
        <p:spPr>
          <a:xfrm>
            <a:off x="761981" y="6095848"/>
            <a:ext cx="304792" cy="304792"/>
          </a:xfrm>
          <a:prstGeom prst="rect">
            <a:avLst/>
          </a:prstGeom>
        </p:spPr>
      </p:pic>
      <p:pic>
        <p:nvPicPr>
          <p:cNvPr id="13" name="Image 6" descr="preencoded.png"/>
          <p:cNvPicPr>
            <a:picLocks noChangeAspect="1"/>
          </p:cNvPicPr>
          <p:nvPr/>
        </p:nvPicPr>
        <p:blipFill>
          <a:blip r:embed="rId9"/>
          <a:stretch>
            <a:fillRect/>
          </a:stretch>
        </p:blipFill>
        <p:spPr>
          <a:xfrm>
            <a:off x="847704" y="6181570"/>
            <a:ext cx="133347" cy="133347"/>
          </a:xfrm>
          <a:prstGeom prst="rect">
            <a:avLst/>
          </a:prstGeom>
        </p:spPr>
      </p:pic>
      <p:sp>
        <p:nvSpPr>
          <p:cNvPr id="14" name="Text 5"/>
          <p:cNvSpPr/>
          <p:nvPr/>
        </p:nvSpPr>
        <p:spPr>
          <a:xfrm>
            <a:off x="1219170" y="6076798"/>
            <a:ext cx="5876397" cy="285743"/>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此问题旨在验证</a:t>
            </a:r>
            <a:r>
              <a:rPr lang="en-US" sz="1200" b="1" dirty="0">
                <a:solidFill>
                  <a:srgbClr val="0F172A"/>
                </a:solidFill>
                <a:latin typeface="Arial" pitchFamily="34" charset="0"/>
                <a:ea typeface="Arial" pitchFamily="34" charset="-122"/>
                <a:cs typeface="Arial" pitchFamily="34" charset="-120"/>
              </a:rPr>
              <a:t>8量子比特系统</a:t>
            </a:r>
            <a:r>
              <a:rPr lang="en-US" sz="1200" dirty="0">
                <a:solidFill>
                  <a:srgbClr val="475569"/>
                </a:solidFill>
                <a:latin typeface="Arial" pitchFamily="34" charset="0"/>
                <a:ea typeface="Arial" pitchFamily="34" charset="-122"/>
                <a:cs typeface="Arial" pitchFamily="34" charset="-120"/>
              </a:rPr>
              <a:t>在模拟关键生物化学量子效应方面的</a:t>
            </a:r>
            <a:r>
              <a:rPr lang="en-US" sz="1200" b="1" dirty="0">
                <a:solidFill>
                  <a:srgbClr val="0F172A"/>
                </a:solidFill>
                <a:latin typeface="Arial" pitchFamily="34" charset="0"/>
                <a:ea typeface="Arial" pitchFamily="34" charset="-122"/>
                <a:cs typeface="Arial" pitchFamily="34" charset="-120"/>
              </a:rPr>
              <a:t>实用性与精度极限</a:t>
            </a:r>
            <a:r>
              <a:rPr lang="en-US" sz="1200" dirty="0">
                <a:solidFill>
                  <a:srgbClr val="475569"/>
                </a:solidFill>
                <a:latin typeface="Arial" pitchFamily="34" charset="0"/>
                <a:ea typeface="Arial" pitchFamily="34" charset="-122"/>
                <a:cs typeface="Arial" pitchFamily="34" charset="-120"/>
              </a:rPr>
              <a:t>。</a:t>
            </a:r>
            <a:endParaRPr lang="en-US" sz="1200" dirty="0"/>
          </a:p>
        </p:txBody>
      </p:sp>
      <p:pic>
        <p:nvPicPr>
          <p:cNvPr id="15" name="Image 7" descr="preencoded.png"/>
          <p:cNvPicPr>
            <a:picLocks noChangeAspect="1"/>
          </p:cNvPicPr>
          <p:nvPr/>
        </p:nvPicPr>
        <p:blipFill>
          <a:blip r:embed="rId10">
            <a:alphaModFix amt="10000"/>
          </a:blip>
          <a:stretch>
            <a:fillRect/>
          </a:stretch>
        </p:blipFill>
        <p:spPr>
          <a:xfrm>
            <a:off x="11001100" y="5667233"/>
            <a:ext cx="866753" cy="8667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914377" y="457189"/>
            <a:ext cx="10676877" cy="542911"/>
          </a:xfrm>
          <a:prstGeom prst="rect">
            <a:avLst/>
          </a:prstGeom>
          <a:noFill/>
          <a:ln/>
        </p:spPr>
        <p:txBody>
          <a:bodyPr wrap="none" lIns="0" tIns="0" rIns="0" bIns="0" rtlCol="0" anchor="ctr"/>
          <a:lstStyle/>
          <a:p>
            <a:pPr marL="0" indent="0" algn="l">
              <a:buNone/>
            </a:pPr>
            <a:r>
              <a:rPr lang="en-US" sz="2850" b="1" dirty="0">
                <a:solidFill>
                  <a:srgbClr val="0F172A"/>
                </a:solidFill>
                <a:latin typeface="Arial" pitchFamily="34" charset="0"/>
                <a:ea typeface="Arial" pitchFamily="34" charset="-122"/>
                <a:cs typeface="Arial" pitchFamily="34" charset="-120"/>
              </a:rPr>
              <a:t>Research Protocol I</a:t>
            </a:r>
            <a:endParaRPr lang="en-US" sz="2850" dirty="0"/>
          </a:p>
        </p:txBody>
      </p:sp>
      <p:pic>
        <p:nvPicPr>
          <p:cNvPr id="5" name="Image 2" descr="preencoded.png"/>
          <p:cNvPicPr>
            <a:picLocks noChangeAspect="1"/>
          </p:cNvPicPr>
          <p:nvPr/>
        </p:nvPicPr>
        <p:blipFill>
          <a:blip r:embed="rId5"/>
          <a:stretch>
            <a:fillRect/>
          </a:stretch>
        </p:blipFill>
        <p:spPr>
          <a:xfrm>
            <a:off x="914377" y="1304892"/>
            <a:ext cx="5238619" cy="2457389"/>
          </a:xfrm>
          <a:prstGeom prst="rect">
            <a:avLst/>
          </a:prstGeom>
        </p:spPr>
      </p:pic>
      <p:sp>
        <p:nvSpPr>
          <p:cNvPr id="6" name="Text 1"/>
          <p:cNvSpPr/>
          <p:nvPr/>
        </p:nvSpPr>
        <p:spPr>
          <a:xfrm>
            <a:off x="1152496" y="1543011"/>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01</a:t>
            </a:r>
            <a:endParaRPr lang="en-US" sz="2250" dirty="0"/>
          </a:p>
        </p:txBody>
      </p:sp>
      <p:sp>
        <p:nvSpPr>
          <p:cNvPr id="7" name="Text 2"/>
          <p:cNvSpPr/>
          <p:nvPr/>
        </p:nvSpPr>
        <p:spPr>
          <a:xfrm>
            <a:off x="1552536" y="1581110"/>
            <a:ext cx="2056968" cy="266693"/>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体系简化与量子比特映射</a:t>
            </a:r>
            <a:endParaRPr lang="en-US" sz="1500" dirty="0"/>
          </a:p>
        </p:txBody>
      </p:sp>
      <p:sp>
        <p:nvSpPr>
          <p:cNvPr id="8" name="Text 3"/>
          <p:cNvSpPr/>
          <p:nvPr/>
        </p:nvSpPr>
        <p:spPr>
          <a:xfrm>
            <a:off x="1152496" y="2038299"/>
            <a:ext cx="4771525"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 选取G-C Watson-Crick二聚体作为模型系统</a:t>
            </a:r>
            <a:endParaRPr lang="en-US" sz="1200" dirty="0"/>
          </a:p>
        </p:txBody>
      </p:sp>
      <p:sp>
        <p:nvSpPr>
          <p:cNvPr id="9" name="Text 4"/>
          <p:cNvSpPr/>
          <p:nvPr/>
        </p:nvSpPr>
        <p:spPr>
          <a:xfrm>
            <a:off x="1152496" y="2362141"/>
            <a:ext cx="4771525"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 采用STO-3G最小基组，冻结非关键轨道</a:t>
            </a:r>
            <a:endParaRPr lang="en-US" sz="1200" dirty="0"/>
          </a:p>
        </p:txBody>
      </p:sp>
      <p:sp>
        <p:nvSpPr>
          <p:cNvPr id="10" name="Text 5"/>
          <p:cNvSpPr/>
          <p:nvPr/>
        </p:nvSpPr>
        <p:spPr>
          <a:xfrm>
            <a:off x="1152496" y="2685983"/>
            <a:ext cx="4771525"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 定义活性空间为6电子/6轨道，映射至</a:t>
            </a:r>
            <a:r>
              <a:rPr lang="en-US" sz="1200" b="1" dirty="0">
                <a:solidFill>
                  <a:srgbClr val="4338CA"/>
                </a:solidFill>
                <a:latin typeface="Arial" pitchFamily="34" charset="0"/>
                <a:ea typeface="Arial" pitchFamily="34" charset="-122"/>
                <a:cs typeface="Arial" pitchFamily="34" charset="-120"/>
              </a:rPr>
              <a:t>6个量子比特</a:t>
            </a:r>
            <a:r>
              <a:rPr lang="en-US" sz="1200" dirty="0">
                <a:solidFill>
                  <a:srgbClr val="475569"/>
                </a:solidFill>
                <a:latin typeface="Arial" pitchFamily="34" charset="0"/>
                <a:ea typeface="Arial" pitchFamily="34" charset="-122"/>
                <a:cs typeface="Arial" pitchFamily="34" charset="-120"/>
              </a:rPr>
              <a:t>（保留2比特冗余）</a:t>
            </a:r>
            <a:endParaRPr lang="en-US" sz="1200" dirty="0"/>
          </a:p>
        </p:txBody>
      </p:sp>
      <p:pic>
        <p:nvPicPr>
          <p:cNvPr id="11" name="Image 3" descr="preencoded.png"/>
          <p:cNvPicPr>
            <a:picLocks noChangeAspect="1"/>
          </p:cNvPicPr>
          <p:nvPr/>
        </p:nvPicPr>
        <p:blipFill>
          <a:blip r:embed="rId5"/>
          <a:stretch>
            <a:fillRect/>
          </a:stretch>
        </p:blipFill>
        <p:spPr>
          <a:xfrm>
            <a:off x="6343491" y="1304892"/>
            <a:ext cx="5238619" cy="2457389"/>
          </a:xfrm>
          <a:prstGeom prst="rect">
            <a:avLst/>
          </a:prstGeom>
        </p:spPr>
      </p:pic>
      <p:sp>
        <p:nvSpPr>
          <p:cNvPr id="12" name="Text 6"/>
          <p:cNvSpPr/>
          <p:nvPr/>
        </p:nvSpPr>
        <p:spPr>
          <a:xfrm>
            <a:off x="6581610" y="1543011"/>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02</a:t>
            </a:r>
            <a:endParaRPr lang="en-US" sz="2250" dirty="0"/>
          </a:p>
        </p:txBody>
      </p:sp>
      <p:sp>
        <p:nvSpPr>
          <p:cNvPr id="13" name="Text 7"/>
          <p:cNvSpPr/>
          <p:nvPr/>
        </p:nvSpPr>
        <p:spPr>
          <a:xfrm>
            <a:off x="6981650" y="1581110"/>
            <a:ext cx="2056968" cy="266693"/>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混合数据生成与模型训练</a:t>
            </a:r>
            <a:endParaRPr lang="en-US" sz="1500" dirty="0"/>
          </a:p>
        </p:txBody>
      </p:sp>
      <p:sp>
        <p:nvSpPr>
          <p:cNvPr id="14" name="Text 8"/>
          <p:cNvSpPr/>
          <p:nvPr/>
        </p:nvSpPr>
        <p:spPr>
          <a:xfrm>
            <a:off x="6581610" y="2038299"/>
            <a:ext cx="4771525" cy="495288"/>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a:t>
            </a:r>
            <a:r>
              <a:rPr lang="en-US" sz="1200" b="1" dirty="0">
                <a:solidFill>
                  <a:srgbClr val="334155"/>
                </a:solidFill>
                <a:latin typeface="Arial" pitchFamily="34" charset="0"/>
                <a:ea typeface="Arial" pitchFamily="34" charset="-122"/>
                <a:cs typeface="Arial" pitchFamily="34" charset="-120"/>
              </a:rPr>
              <a:t>经典预训练</a:t>
            </a:r>
            <a:r>
              <a:rPr lang="en-US" sz="1200" dirty="0">
                <a:solidFill>
                  <a:srgbClr val="475569"/>
                </a:solidFill>
                <a:latin typeface="Arial" pitchFamily="34" charset="0"/>
                <a:ea typeface="Arial" pitchFamily="34" charset="-122"/>
                <a:cs typeface="Arial" pitchFamily="34" charset="-120"/>
              </a:rPr>
              <a:t>：使用DFT(B3LYP)计算约10⁴个构型能量，预训练神经网络势能面</a:t>
            </a:r>
            <a:endParaRPr lang="en-US" sz="1200" dirty="0"/>
          </a:p>
        </p:txBody>
      </p:sp>
      <p:sp>
        <p:nvSpPr>
          <p:cNvPr id="15" name="Text 9"/>
          <p:cNvSpPr/>
          <p:nvPr/>
        </p:nvSpPr>
        <p:spPr>
          <a:xfrm>
            <a:off x="6581610" y="2609785"/>
            <a:ext cx="4771525" cy="495288"/>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a:t>
            </a:r>
            <a:r>
              <a:rPr lang="en-US" sz="1200" b="1" dirty="0">
                <a:solidFill>
                  <a:srgbClr val="334155"/>
                </a:solidFill>
                <a:latin typeface="Arial" pitchFamily="34" charset="0"/>
                <a:ea typeface="Arial" pitchFamily="34" charset="-122"/>
                <a:cs typeface="Arial" pitchFamily="34" charset="-120"/>
              </a:rPr>
              <a:t>量子微调</a:t>
            </a:r>
            <a:r>
              <a:rPr lang="en-US" sz="1200" dirty="0">
                <a:solidFill>
                  <a:srgbClr val="475569"/>
                </a:solidFill>
                <a:latin typeface="Arial" pitchFamily="34" charset="0"/>
                <a:ea typeface="Arial" pitchFamily="34" charset="-122"/>
                <a:cs typeface="Arial" pitchFamily="34" charset="-120"/>
              </a:rPr>
              <a:t>：选取50个关键构型，在</a:t>
            </a:r>
            <a:r>
              <a:rPr lang="en-US" sz="1200" b="1" dirty="0">
                <a:solidFill>
                  <a:srgbClr val="4338CA"/>
                </a:solidFill>
                <a:latin typeface="Arial" pitchFamily="34" charset="0"/>
                <a:ea typeface="Arial" pitchFamily="34" charset="-122"/>
                <a:cs typeface="Arial" pitchFamily="34" charset="-120"/>
              </a:rPr>
              <a:t>8量子比特</a:t>
            </a:r>
            <a:r>
              <a:rPr lang="en-US" sz="1200" dirty="0">
                <a:solidFill>
                  <a:srgbClr val="475569"/>
                </a:solidFill>
                <a:latin typeface="Arial" pitchFamily="34" charset="0"/>
                <a:ea typeface="Arial" pitchFamily="34" charset="-122"/>
                <a:cs typeface="Arial" pitchFamily="34" charset="-120"/>
              </a:rPr>
              <a:t>处理器上用VQE-UCCSD计算高精度能量，结合误差缓解技术精调模型</a:t>
            </a:r>
            <a:endParaRPr lang="en-US" sz="1200" dirty="0"/>
          </a:p>
        </p:txBody>
      </p:sp>
      <p:pic>
        <p:nvPicPr>
          <p:cNvPr id="16" name="Image 4" descr="preencoded.png"/>
          <p:cNvPicPr>
            <a:picLocks noChangeAspect="1"/>
          </p:cNvPicPr>
          <p:nvPr/>
        </p:nvPicPr>
        <p:blipFill>
          <a:blip r:embed="rId5"/>
          <a:stretch>
            <a:fillRect/>
          </a:stretch>
        </p:blipFill>
        <p:spPr>
          <a:xfrm>
            <a:off x="914377" y="3952776"/>
            <a:ext cx="5238619" cy="2457389"/>
          </a:xfrm>
          <a:prstGeom prst="rect">
            <a:avLst/>
          </a:prstGeom>
        </p:spPr>
      </p:pic>
      <p:sp>
        <p:nvSpPr>
          <p:cNvPr id="17" name="Text 10"/>
          <p:cNvSpPr/>
          <p:nvPr/>
        </p:nvSpPr>
        <p:spPr>
          <a:xfrm>
            <a:off x="1152496" y="4190895"/>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03</a:t>
            </a:r>
            <a:endParaRPr lang="en-US" sz="2250" dirty="0"/>
          </a:p>
        </p:txBody>
      </p:sp>
      <p:sp>
        <p:nvSpPr>
          <p:cNvPr id="18" name="Text 11"/>
          <p:cNvSpPr/>
          <p:nvPr/>
        </p:nvSpPr>
        <p:spPr>
          <a:xfrm>
            <a:off x="1552536" y="4228994"/>
            <a:ext cx="1685502" cy="266693"/>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模型验证与扩展应用</a:t>
            </a:r>
            <a:endParaRPr lang="en-US" sz="1500" dirty="0"/>
          </a:p>
        </p:txBody>
      </p:sp>
      <p:sp>
        <p:nvSpPr>
          <p:cNvPr id="19" name="Text 12"/>
          <p:cNvSpPr/>
          <p:nvPr/>
        </p:nvSpPr>
        <p:spPr>
          <a:xfrm>
            <a:off x="1152496" y="4686183"/>
            <a:ext cx="4771525" cy="495288"/>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a:t>
            </a:r>
            <a:r>
              <a:rPr lang="en-US" sz="1200" b="1" dirty="0">
                <a:solidFill>
                  <a:srgbClr val="334155"/>
                </a:solidFill>
                <a:latin typeface="Arial" pitchFamily="34" charset="0"/>
                <a:ea typeface="Arial" pitchFamily="34" charset="-122"/>
                <a:cs typeface="Arial" pitchFamily="34" charset="-120"/>
              </a:rPr>
              <a:t>验证</a:t>
            </a:r>
            <a:r>
              <a:rPr lang="en-US" sz="1200" dirty="0">
                <a:solidFill>
                  <a:srgbClr val="475569"/>
                </a:solidFill>
                <a:latin typeface="Arial" pitchFamily="34" charset="0"/>
                <a:ea typeface="Arial" pitchFamily="34" charset="-122"/>
                <a:cs typeface="Arial" pitchFamily="34" charset="-120"/>
              </a:rPr>
              <a:t>：用训练好的势能驱动经典MD模拟，计算质子转移自由能垒，并与CCSD(T)/CBS基准值对比</a:t>
            </a:r>
            <a:endParaRPr lang="en-US" sz="1200" dirty="0"/>
          </a:p>
        </p:txBody>
      </p:sp>
      <p:sp>
        <p:nvSpPr>
          <p:cNvPr id="20" name="Text 13"/>
          <p:cNvSpPr/>
          <p:nvPr/>
        </p:nvSpPr>
        <p:spPr>
          <a:xfrm>
            <a:off x="1152496" y="5257669"/>
            <a:ext cx="4771525" cy="495288"/>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a:t>
            </a:r>
            <a:r>
              <a:rPr lang="en-US" sz="1200" b="1" dirty="0">
                <a:solidFill>
                  <a:srgbClr val="334155"/>
                </a:solidFill>
                <a:latin typeface="Arial" pitchFamily="34" charset="0"/>
                <a:ea typeface="Arial" pitchFamily="34" charset="-122"/>
                <a:cs typeface="Arial" pitchFamily="34" charset="-120"/>
              </a:rPr>
              <a:t>扩展</a:t>
            </a:r>
            <a:r>
              <a:rPr lang="en-US" sz="1200" dirty="0">
                <a:solidFill>
                  <a:srgbClr val="475569"/>
                </a:solidFill>
                <a:latin typeface="Arial" pitchFamily="34" charset="0"/>
                <a:ea typeface="Arial" pitchFamily="34" charset="-122"/>
                <a:cs typeface="Arial" pitchFamily="34" charset="-120"/>
              </a:rPr>
              <a:t>：在8oxoG-G配对模型上重复流程，评估氧化损伤对质子转移势垒的影响</a:t>
            </a:r>
            <a:endParaRPr lang="en-US" sz="1200" dirty="0"/>
          </a:p>
        </p:txBody>
      </p:sp>
      <p:pic>
        <p:nvPicPr>
          <p:cNvPr id="21" name="Image 5" descr="preencoded.png"/>
          <p:cNvPicPr>
            <a:picLocks noChangeAspect="1"/>
          </p:cNvPicPr>
          <p:nvPr/>
        </p:nvPicPr>
        <p:blipFill>
          <a:blip r:embed="rId5"/>
          <a:stretch>
            <a:fillRect/>
          </a:stretch>
        </p:blipFill>
        <p:spPr>
          <a:xfrm>
            <a:off x="6343491" y="3952776"/>
            <a:ext cx="5238619" cy="2457389"/>
          </a:xfrm>
          <a:prstGeom prst="rect">
            <a:avLst/>
          </a:prstGeom>
        </p:spPr>
      </p:pic>
      <p:sp>
        <p:nvSpPr>
          <p:cNvPr id="22" name="Text 14"/>
          <p:cNvSpPr/>
          <p:nvPr/>
        </p:nvSpPr>
        <p:spPr>
          <a:xfrm>
            <a:off x="6581610" y="4190895"/>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04</a:t>
            </a:r>
            <a:endParaRPr lang="en-US" sz="2250" dirty="0"/>
          </a:p>
        </p:txBody>
      </p:sp>
      <p:sp>
        <p:nvSpPr>
          <p:cNvPr id="23" name="Text 15"/>
          <p:cNvSpPr/>
          <p:nvPr/>
        </p:nvSpPr>
        <p:spPr>
          <a:xfrm>
            <a:off x="6981650" y="4228994"/>
            <a:ext cx="1314036" cy="266693"/>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资源与性能评估</a:t>
            </a:r>
            <a:endParaRPr lang="en-US" sz="1500" dirty="0"/>
          </a:p>
        </p:txBody>
      </p:sp>
      <p:sp>
        <p:nvSpPr>
          <p:cNvPr id="24" name="Text 16"/>
          <p:cNvSpPr/>
          <p:nvPr/>
        </p:nvSpPr>
        <p:spPr>
          <a:xfrm>
            <a:off x="6581610" y="4686183"/>
            <a:ext cx="4771525"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 量化总量子调用次数、墙钟时间及计算开销</a:t>
            </a:r>
            <a:endParaRPr lang="en-US" sz="1200" dirty="0"/>
          </a:p>
        </p:txBody>
      </p:sp>
      <p:sp>
        <p:nvSpPr>
          <p:cNvPr id="25" name="Text 17"/>
          <p:cNvSpPr/>
          <p:nvPr/>
        </p:nvSpPr>
        <p:spPr>
          <a:xfrm>
            <a:off x="6581610" y="5010025"/>
            <a:ext cx="4771525"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 评估最终能量与力预测的统计误差</a:t>
            </a:r>
            <a:endParaRPr lang="en-US" sz="1200" dirty="0"/>
          </a:p>
        </p:txBody>
      </p:sp>
      <p:sp>
        <p:nvSpPr>
          <p:cNvPr id="26" name="Text 18"/>
          <p:cNvSpPr/>
          <p:nvPr/>
        </p:nvSpPr>
        <p:spPr>
          <a:xfrm>
            <a:off x="6581610" y="5333867"/>
            <a:ext cx="4771525" cy="247644"/>
          </a:xfrm>
          <a:prstGeom prst="rect">
            <a:avLst/>
          </a:prstGeom>
          <a:noFill/>
          <a:ln/>
        </p:spPr>
        <p:txBody>
          <a:bodyPr wrap="non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 明确</a:t>
            </a:r>
            <a:r>
              <a:rPr lang="en-US" sz="1200" b="1" dirty="0">
                <a:solidFill>
                  <a:srgbClr val="4338CA"/>
                </a:solidFill>
                <a:latin typeface="Arial" pitchFamily="34" charset="0"/>
                <a:ea typeface="Arial" pitchFamily="34" charset="-122"/>
                <a:cs typeface="Arial" pitchFamily="34" charset="-120"/>
              </a:rPr>
              <a:t>8量子比特</a:t>
            </a:r>
            <a:r>
              <a:rPr lang="en-US" sz="1200" dirty="0">
                <a:solidFill>
                  <a:srgbClr val="475569"/>
                </a:solidFill>
                <a:latin typeface="Arial" pitchFamily="34" charset="0"/>
                <a:ea typeface="Arial" pitchFamily="34" charset="-122"/>
                <a:cs typeface="Arial" pitchFamily="34" charset="-120"/>
              </a:rPr>
              <a:t>系统的实用边界与适用范围</a:t>
            </a:r>
            <a:endParaRPr lang="en-US" sz="1200" dirty="0"/>
          </a:p>
        </p:txBody>
      </p:sp>
      <p:pic>
        <p:nvPicPr>
          <p:cNvPr id="27" name="Image 6" descr="preencoded.png"/>
          <p:cNvPicPr>
            <a:picLocks noChangeAspect="1"/>
          </p:cNvPicPr>
          <p:nvPr/>
        </p:nvPicPr>
        <p:blipFill>
          <a:blip r:embed="rId6">
            <a:alphaModFix amt="10000"/>
          </a:blip>
          <a:stretch>
            <a:fillRect/>
          </a:stretch>
        </p:blipFill>
        <p:spPr>
          <a:xfrm>
            <a:off x="11001100" y="5667233"/>
            <a:ext cx="866753" cy="8667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761981" y="457189"/>
            <a:ext cx="10829273"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核心科研问题二</a:t>
            </a:r>
            <a:endParaRPr lang="en-US" sz="3000" dirty="0"/>
          </a:p>
        </p:txBody>
      </p:sp>
      <p:sp>
        <p:nvSpPr>
          <p:cNvPr id="5" name="Text 1"/>
          <p:cNvSpPr/>
          <p:nvPr/>
        </p:nvSpPr>
        <p:spPr>
          <a:xfrm>
            <a:off x="761981" y="1257269"/>
            <a:ext cx="9762500" cy="619110"/>
          </a:xfrm>
          <a:prstGeom prst="rect">
            <a:avLst/>
          </a:prstGeom>
          <a:noFill/>
          <a:ln/>
        </p:spPr>
        <p:txBody>
          <a:bodyPr wrap="square" lIns="0" tIns="0" rIns="0" bIns="0" rtlCol="0" anchor="ctr"/>
          <a:lstStyle/>
          <a:p>
            <a:pPr marL="0" indent="0" algn="l">
              <a:buNone/>
            </a:pPr>
            <a:r>
              <a:rPr lang="en-US" sz="1500" dirty="0">
                <a:solidFill>
                  <a:srgbClr val="0F172A"/>
                </a:solidFill>
                <a:latin typeface="Arial" pitchFamily="34" charset="0"/>
                <a:ea typeface="Arial" pitchFamily="34" charset="-122"/>
                <a:cs typeface="Arial" pitchFamily="34" charset="-120"/>
              </a:rPr>
              <a:t>微重力通过改变扩散、溶剂化与构象动力学，深刻影响蛋白质-药物相互作用。然而，</a:t>
            </a:r>
            <a:r>
              <a:rPr lang="en-US" sz="1500" b="1" dirty="0">
                <a:solidFill>
                  <a:srgbClr val="4338CA"/>
                </a:solidFill>
                <a:latin typeface="Arial" pitchFamily="34" charset="0"/>
                <a:ea typeface="Arial" pitchFamily="34" charset="-122"/>
                <a:cs typeface="Arial" pitchFamily="34" charset="-120"/>
              </a:rPr>
              <a:t>8量子比特系统</a:t>
            </a:r>
            <a:r>
              <a:rPr lang="en-US" sz="1500" dirty="0">
                <a:solidFill>
                  <a:srgbClr val="0F172A"/>
                </a:solidFill>
                <a:latin typeface="Arial" pitchFamily="34" charset="0"/>
                <a:ea typeface="Arial" pitchFamily="34" charset="-122"/>
                <a:cs typeface="Arial" pitchFamily="34" charset="-120"/>
              </a:rPr>
              <a:t>能否在微重力条件下，有效模拟蛋白质活性位点的构象变化对药物结合亲和力的影响？</a:t>
            </a:r>
            <a:endParaRPr lang="en-US" sz="1500" dirty="0"/>
          </a:p>
        </p:txBody>
      </p:sp>
      <p:pic>
        <p:nvPicPr>
          <p:cNvPr id="6" name="Image 2" descr="preencoded.png"/>
          <p:cNvPicPr>
            <a:picLocks noChangeAspect="1"/>
          </p:cNvPicPr>
          <p:nvPr/>
        </p:nvPicPr>
        <p:blipFill>
          <a:blip r:embed="rId5"/>
          <a:stretch>
            <a:fillRect/>
          </a:stretch>
        </p:blipFill>
        <p:spPr>
          <a:xfrm>
            <a:off x="761981" y="2181170"/>
            <a:ext cx="5295768" cy="2809805"/>
          </a:xfrm>
          <a:prstGeom prst="rect">
            <a:avLst/>
          </a:prstGeom>
        </p:spPr>
      </p:pic>
      <p:pic>
        <p:nvPicPr>
          <p:cNvPr id="7" name="Image 3" descr="preencoded.png"/>
          <p:cNvPicPr>
            <a:picLocks noChangeAspect="1"/>
          </p:cNvPicPr>
          <p:nvPr/>
        </p:nvPicPr>
        <p:blipFill>
          <a:blip r:embed="rId6"/>
          <a:stretch>
            <a:fillRect/>
          </a:stretch>
        </p:blipFill>
        <p:spPr>
          <a:xfrm>
            <a:off x="1000100" y="2419290"/>
            <a:ext cx="380990" cy="380990"/>
          </a:xfrm>
          <a:prstGeom prst="rect">
            <a:avLst/>
          </a:prstGeom>
        </p:spPr>
      </p:pic>
      <p:pic>
        <p:nvPicPr>
          <p:cNvPr id="8" name="Image 4" descr="preencoded.png"/>
          <p:cNvPicPr>
            <a:picLocks noChangeAspect="1"/>
          </p:cNvPicPr>
          <p:nvPr/>
        </p:nvPicPr>
        <p:blipFill>
          <a:blip r:embed="rId7"/>
          <a:stretch>
            <a:fillRect/>
          </a:stretch>
        </p:blipFill>
        <p:spPr>
          <a:xfrm>
            <a:off x="1104872" y="2524062"/>
            <a:ext cx="171446" cy="171446"/>
          </a:xfrm>
          <a:prstGeom prst="rect">
            <a:avLst/>
          </a:prstGeom>
        </p:spPr>
      </p:pic>
      <p:sp>
        <p:nvSpPr>
          <p:cNvPr id="9" name="Text 2"/>
          <p:cNvSpPr/>
          <p:nvPr/>
        </p:nvSpPr>
        <p:spPr>
          <a:xfrm>
            <a:off x="1495388" y="2476438"/>
            <a:ext cx="380610" cy="266693"/>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挑战</a:t>
            </a:r>
            <a:endParaRPr lang="en-US" sz="1500" dirty="0"/>
          </a:p>
        </p:txBody>
      </p:sp>
      <p:sp>
        <p:nvSpPr>
          <p:cNvPr id="10" name="Text 3"/>
          <p:cNvSpPr/>
          <p:nvPr/>
        </p:nvSpPr>
        <p:spPr>
          <a:xfrm>
            <a:off x="1000100" y="2952676"/>
            <a:ext cx="4828674" cy="561961"/>
          </a:xfrm>
          <a:prstGeom prst="rect">
            <a:avLst/>
          </a:prstGeom>
          <a:noFill/>
          <a:ln/>
        </p:spPr>
        <p:txBody>
          <a:bodyPr wrap="square" lIns="0" tIns="0" rIns="0" bIns="0" rtlCol="0" anchor="ctr"/>
          <a:lstStyle/>
          <a:p>
            <a:pPr marL="0" indent="0" algn="l">
              <a:buNone/>
            </a:pPr>
            <a:r>
              <a:rPr lang="en-US" sz="1350" dirty="0">
                <a:solidFill>
                  <a:srgbClr val="334155"/>
                </a:solidFill>
                <a:latin typeface="Arial" pitchFamily="34" charset="0"/>
                <a:ea typeface="Arial" pitchFamily="34" charset="-122"/>
                <a:cs typeface="Arial" pitchFamily="34" charset="-120"/>
              </a:rPr>
              <a:t>8量子比特系统规模极小，无法直接编码完整蛋白质活性位点，严重依赖</a:t>
            </a:r>
            <a:r>
              <a:rPr lang="en-US" sz="1350" b="1" dirty="0">
                <a:solidFill>
                  <a:srgbClr val="4338CA"/>
                </a:solidFill>
                <a:latin typeface="Arial" pitchFamily="34" charset="0"/>
                <a:ea typeface="Arial" pitchFamily="34" charset="-122"/>
                <a:cs typeface="Arial" pitchFamily="34" charset="-120"/>
              </a:rPr>
              <a:t>活性空间近似</a:t>
            </a:r>
            <a:r>
              <a:rPr lang="en-US" sz="1350" dirty="0">
                <a:solidFill>
                  <a:srgbClr val="334155"/>
                </a:solidFill>
                <a:latin typeface="Arial" pitchFamily="34" charset="0"/>
                <a:ea typeface="Arial" pitchFamily="34" charset="-122"/>
                <a:cs typeface="Arial" pitchFamily="34" charset="-120"/>
              </a:rPr>
              <a:t>。</a:t>
            </a:r>
            <a:endParaRPr lang="en-US" sz="1350" dirty="0"/>
          </a:p>
        </p:txBody>
      </p:sp>
      <p:pic>
        <p:nvPicPr>
          <p:cNvPr id="11" name="Image 5" descr="preencoded.png"/>
          <p:cNvPicPr>
            <a:picLocks noChangeAspect="1"/>
          </p:cNvPicPr>
          <p:nvPr/>
        </p:nvPicPr>
        <p:blipFill>
          <a:blip r:embed="rId5"/>
          <a:stretch>
            <a:fillRect/>
          </a:stretch>
        </p:blipFill>
        <p:spPr>
          <a:xfrm>
            <a:off x="6286343" y="2181170"/>
            <a:ext cx="5295768" cy="2809805"/>
          </a:xfrm>
          <a:prstGeom prst="rect">
            <a:avLst/>
          </a:prstGeom>
        </p:spPr>
      </p:pic>
      <p:pic>
        <p:nvPicPr>
          <p:cNvPr id="12" name="Image 6" descr="preencoded.png"/>
          <p:cNvPicPr>
            <a:picLocks noChangeAspect="1"/>
          </p:cNvPicPr>
          <p:nvPr/>
        </p:nvPicPr>
        <p:blipFill>
          <a:blip r:embed="rId6"/>
          <a:stretch>
            <a:fillRect/>
          </a:stretch>
        </p:blipFill>
        <p:spPr>
          <a:xfrm>
            <a:off x="6524462" y="2419290"/>
            <a:ext cx="380990" cy="380990"/>
          </a:xfrm>
          <a:prstGeom prst="rect">
            <a:avLst/>
          </a:prstGeom>
        </p:spPr>
      </p:pic>
      <p:pic>
        <p:nvPicPr>
          <p:cNvPr id="13" name="Image 7" descr="preencoded.png"/>
          <p:cNvPicPr>
            <a:picLocks noChangeAspect="1"/>
          </p:cNvPicPr>
          <p:nvPr/>
        </p:nvPicPr>
        <p:blipFill>
          <a:blip r:embed="rId8"/>
          <a:stretch>
            <a:fillRect/>
          </a:stretch>
        </p:blipFill>
        <p:spPr>
          <a:xfrm>
            <a:off x="6657809" y="2524062"/>
            <a:ext cx="133347" cy="171446"/>
          </a:xfrm>
          <a:prstGeom prst="rect">
            <a:avLst/>
          </a:prstGeom>
        </p:spPr>
      </p:pic>
      <p:sp>
        <p:nvSpPr>
          <p:cNvPr id="14" name="Text 4"/>
          <p:cNvSpPr/>
          <p:nvPr/>
        </p:nvSpPr>
        <p:spPr>
          <a:xfrm>
            <a:off x="7019750" y="2476438"/>
            <a:ext cx="380610" cy="266693"/>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机遇</a:t>
            </a:r>
            <a:endParaRPr lang="en-US" sz="1500" dirty="0"/>
          </a:p>
        </p:txBody>
      </p:sp>
      <p:sp>
        <p:nvSpPr>
          <p:cNvPr id="15" name="Text 5"/>
          <p:cNvSpPr/>
          <p:nvPr/>
        </p:nvSpPr>
        <p:spPr>
          <a:xfrm>
            <a:off x="6524462" y="2952676"/>
            <a:ext cx="4828674" cy="561961"/>
          </a:xfrm>
          <a:prstGeom prst="rect">
            <a:avLst/>
          </a:prstGeom>
          <a:noFill/>
          <a:ln/>
        </p:spPr>
        <p:txBody>
          <a:bodyPr wrap="square" lIns="0" tIns="0" rIns="0" bIns="0" rtlCol="0" anchor="ctr"/>
          <a:lstStyle/>
          <a:p>
            <a:pPr marL="0" indent="0" algn="l">
              <a:buNone/>
            </a:pPr>
            <a:r>
              <a:rPr lang="en-US" sz="1350" dirty="0">
                <a:solidFill>
                  <a:srgbClr val="334155"/>
                </a:solidFill>
                <a:latin typeface="Arial" pitchFamily="34" charset="0"/>
                <a:ea typeface="Arial" pitchFamily="34" charset="-122"/>
                <a:cs typeface="Arial" pitchFamily="34" charset="-120"/>
              </a:rPr>
              <a:t>蛋白质-配体对接与构象优化可映射为</a:t>
            </a:r>
            <a:r>
              <a:rPr lang="en-US" sz="1350" b="1" dirty="0">
                <a:solidFill>
                  <a:srgbClr val="4338CA"/>
                </a:solidFill>
                <a:latin typeface="Arial" pitchFamily="34" charset="0"/>
                <a:ea typeface="Arial" pitchFamily="34" charset="-122"/>
                <a:cs typeface="Arial" pitchFamily="34" charset="-120"/>
              </a:rPr>
              <a:t>组合优化问题（QUBO）</a:t>
            </a:r>
            <a:r>
              <a:rPr lang="en-US" sz="1350" dirty="0">
                <a:solidFill>
                  <a:srgbClr val="334155"/>
                </a:solidFill>
                <a:latin typeface="Arial" pitchFamily="34" charset="0"/>
                <a:ea typeface="Arial" pitchFamily="34" charset="-122"/>
                <a:cs typeface="Arial" pitchFamily="34" charset="-120"/>
              </a:rPr>
              <a:t>，为量子退火器提供了应用切入点。</a:t>
            </a:r>
            <a:endParaRPr lang="en-US" sz="1350" dirty="0"/>
          </a:p>
        </p:txBody>
      </p:sp>
      <p:pic>
        <p:nvPicPr>
          <p:cNvPr id="16" name="Image 8" descr="preencoded.png"/>
          <p:cNvPicPr>
            <a:picLocks noChangeAspect="1"/>
          </p:cNvPicPr>
          <p:nvPr/>
        </p:nvPicPr>
        <p:blipFill>
          <a:blip r:embed="rId9"/>
          <a:stretch>
            <a:fillRect/>
          </a:stretch>
        </p:blipFill>
        <p:spPr>
          <a:xfrm>
            <a:off x="761981" y="5295768"/>
            <a:ext cx="10820129" cy="1114397"/>
          </a:xfrm>
          <a:prstGeom prst="rect">
            <a:avLst/>
          </a:prstGeom>
        </p:spPr>
      </p:pic>
      <p:pic>
        <p:nvPicPr>
          <p:cNvPr id="17" name="Image 9" descr="preencoded.png"/>
          <p:cNvPicPr>
            <a:picLocks noChangeAspect="1"/>
          </p:cNvPicPr>
          <p:nvPr/>
        </p:nvPicPr>
        <p:blipFill>
          <a:blip r:embed="rId10"/>
          <a:stretch>
            <a:fillRect/>
          </a:stretch>
        </p:blipFill>
        <p:spPr>
          <a:xfrm>
            <a:off x="1028674" y="5562461"/>
            <a:ext cx="228594" cy="228594"/>
          </a:xfrm>
          <a:prstGeom prst="rect">
            <a:avLst/>
          </a:prstGeom>
        </p:spPr>
      </p:pic>
      <p:sp>
        <p:nvSpPr>
          <p:cNvPr id="18" name="Text 6"/>
          <p:cNvSpPr/>
          <p:nvPr/>
        </p:nvSpPr>
        <p:spPr>
          <a:xfrm>
            <a:off x="1409665" y="5524362"/>
            <a:ext cx="9791074" cy="266693"/>
          </a:xfrm>
          <a:prstGeom prst="rect">
            <a:avLst/>
          </a:prstGeom>
          <a:noFill/>
          <a:ln/>
        </p:spPr>
        <p:txBody>
          <a:bodyPr wrap="none" lIns="0" tIns="0" rIns="0" bIns="0" rtlCol="0" anchor="ctr"/>
          <a:lstStyle/>
          <a:p>
            <a:pPr marL="0" indent="0" algn="l">
              <a:buNone/>
            </a:pPr>
            <a:r>
              <a:rPr lang="en-US" sz="1350" b="1" dirty="0">
                <a:solidFill>
                  <a:srgbClr val="4338CA"/>
                </a:solidFill>
                <a:latin typeface="Arial" pitchFamily="34" charset="0"/>
                <a:ea typeface="Arial" pitchFamily="34" charset="-122"/>
                <a:cs typeface="Arial" pitchFamily="34" charset="-120"/>
              </a:rPr>
              <a:t>核心问题</a:t>
            </a:r>
            <a:endParaRPr lang="en-US" sz="1350" dirty="0"/>
          </a:p>
        </p:txBody>
      </p:sp>
      <p:sp>
        <p:nvSpPr>
          <p:cNvPr id="19" name="Text 7"/>
          <p:cNvSpPr/>
          <p:nvPr/>
        </p:nvSpPr>
        <p:spPr>
          <a:xfrm>
            <a:off x="1409665" y="5867253"/>
            <a:ext cx="9791074" cy="314317"/>
          </a:xfrm>
          <a:prstGeom prst="rect">
            <a:avLst/>
          </a:prstGeom>
          <a:noFill/>
          <a:ln/>
        </p:spPr>
        <p:txBody>
          <a:bodyPr wrap="none" lIns="0" tIns="0" rIns="0" bIns="0" rtlCol="0" anchor="ctr"/>
          <a:lstStyle/>
          <a:p>
            <a:pPr marL="0" indent="0" algn="l">
              <a:buNone/>
            </a:pPr>
            <a:r>
              <a:rPr lang="en-US" sz="1500" dirty="0">
                <a:solidFill>
                  <a:srgbClr val="0F172A"/>
                </a:solidFill>
                <a:latin typeface="Arial" pitchFamily="34" charset="0"/>
                <a:ea typeface="Arial" pitchFamily="34" charset="-122"/>
                <a:cs typeface="Arial" pitchFamily="34" charset="-120"/>
              </a:rPr>
              <a:t>能否利用</a:t>
            </a:r>
            <a:r>
              <a:rPr lang="en-US" sz="1500" b="1" dirty="0">
                <a:solidFill>
                  <a:srgbClr val="0F172A"/>
                </a:solidFill>
                <a:latin typeface="Arial" pitchFamily="34" charset="0"/>
                <a:ea typeface="Arial" pitchFamily="34" charset="-122"/>
                <a:cs typeface="Arial" pitchFamily="34" charset="-120"/>
              </a:rPr>
              <a:t>量子退火器</a:t>
            </a:r>
            <a:r>
              <a:rPr lang="en-US" sz="1500" dirty="0">
                <a:solidFill>
                  <a:srgbClr val="0F172A"/>
                </a:solidFill>
                <a:latin typeface="Arial" pitchFamily="34" charset="0"/>
                <a:ea typeface="Arial" pitchFamily="34" charset="-122"/>
                <a:cs typeface="Arial" pitchFamily="34" charset="-120"/>
              </a:rPr>
              <a:t>，在简化模型上求解构象-结合亲和力的优化问题，从而间接评估微重力效应对药物结合的影响？</a:t>
            </a:r>
            <a:endParaRPr lang="en-US" sz="1500" dirty="0"/>
          </a:p>
        </p:txBody>
      </p:sp>
      <p:pic>
        <p:nvPicPr>
          <p:cNvPr id="20" name="Image 10" descr="preencoded.png"/>
          <p:cNvPicPr>
            <a:picLocks noChangeAspect="1"/>
          </p:cNvPicPr>
          <p:nvPr/>
        </p:nvPicPr>
        <p:blipFill>
          <a:blip r:embed="rId11">
            <a:alphaModFix amt="10000"/>
          </a:blip>
          <a:stretch>
            <a:fillRect/>
          </a:stretch>
        </p:blipFill>
        <p:spPr>
          <a:xfrm>
            <a:off x="10905852" y="5571986"/>
            <a:ext cx="904852" cy="9048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914377" y="533387"/>
            <a:ext cx="10676877" cy="542911"/>
          </a:xfrm>
          <a:prstGeom prst="rect">
            <a:avLst/>
          </a:prstGeom>
          <a:noFill/>
          <a:ln/>
        </p:spPr>
        <p:txBody>
          <a:bodyPr wrap="none" lIns="0" tIns="0" rIns="0" bIns="0" rtlCol="0" anchor="ctr"/>
          <a:lstStyle/>
          <a:p>
            <a:pPr marL="0" indent="0" algn="l">
              <a:buNone/>
            </a:pPr>
            <a:r>
              <a:rPr lang="en-US" sz="2850" b="1" dirty="0">
                <a:solidFill>
                  <a:srgbClr val="0F172A"/>
                </a:solidFill>
                <a:latin typeface="Arial" pitchFamily="34" charset="0"/>
                <a:ea typeface="Arial" pitchFamily="34" charset="-122"/>
                <a:cs typeface="Arial" pitchFamily="34" charset="-120"/>
              </a:rPr>
              <a:t>Research Protocol II</a:t>
            </a:r>
            <a:endParaRPr lang="en-US" sz="2850" dirty="0"/>
          </a:p>
        </p:txBody>
      </p:sp>
      <p:pic>
        <p:nvPicPr>
          <p:cNvPr id="5" name="Image 2" descr="preencoded.png"/>
          <p:cNvPicPr>
            <a:picLocks noChangeAspect="1"/>
          </p:cNvPicPr>
          <p:nvPr/>
        </p:nvPicPr>
        <p:blipFill>
          <a:blip r:embed="rId5"/>
          <a:stretch>
            <a:fillRect/>
          </a:stretch>
        </p:blipFill>
        <p:spPr>
          <a:xfrm>
            <a:off x="914377" y="1381090"/>
            <a:ext cx="3428914" cy="4362341"/>
          </a:xfrm>
          <a:prstGeom prst="rect">
            <a:avLst/>
          </a:prstGeom>
        </p:spPr>
      </p:pic>
      <p:sp>
        <p:nvSpPr>
          <p:cNvPr id="6" name="Text 1"/>
          <p:cNvSpPr/>
          <p:nvPr/>
        </p:nvSpPr>
        <p:spPr>
          <a:xfrm>
            <a:off x="1152496" y="1619210"/>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01</a:t>
            </a:r>
            <a:endParaRPr lang="en-US" sz="2250" dirty="0"/>
          </a:p>
        </p:txBody>
      </p:sp>
      <p:pic>
        <p:nvPicPr>
          <p:cNvPr id="7" name="Image 3" descr="preencoded.png"/>
          <p:cNvPicPr>
            <a:picLocks noChangeAspect="1"/>
          </p:cNvPicPr>
          <p:nvPr/>
        </p:nvPicPr>
        <p:blipFill>
          <a:blip r:embed="rId6"/>
          <a:stretch>
            <a:fillRect/>
          </a:stretch>
        </p:blipFill>
        <p:spPr>
          <a:xfrm>
            <a:off x="1552536" y="1781130"/>
            <a:ext cx="304792" cy="19050"/>
          </a:xfrm>
          <a:prstGeom prst="rect">
            <a:avLst/>
          </a:prstGeom>
        </p:spPr>
      </p:pic>
      <p:sp>
        <p:nvSpPr>
          <p:cNvPr id="8" name="Text 2"/>
          <p:cNvSpPr/>
          <p:nvPr/>
        </p:nvSpPr>
        <p:spPr>
          <a:xfrm>
            <a:off x="1152496" y="2114497"/>
            <a:ext cx="2961820" cy="238119"/>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体系选择与简化</a:t>
            </a:r>
            <a:endParaRPr lang="en-US" sz="1500" dirty="0"/>
          </a:p>
        </p:txBody>
      </p:sp>
      <p:sp>
        <p:nvSpPr>
          <p:cNvPr id="9" name="Text 3"/>
          <p:cNvSpPr/>
          <p:nvPr/>
        </p:nvSpPr>
        <p:spPr>
          <a:xfrm>
            <a:off x="1152496" y="2466913"/>
            <a:ext cx="2961820" cy="495288"/>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选取肿瘤学关键靶点：</a:t>
            </a:r>
            <a:r>
              <a:rPr lang="en-US" sz="1200" b="1" dirty="0">
                <a:solidFill>
                  <a:srgbClr val="4338CA"/>
                </a:solidFill>
                <a:latin typeface="Arial" pitchFamily="34" charset="0"/>
                <a:ea typeface="Arial" pitchFamily="34" charset="-122"/>
                <a:cs typeface="Arial" pitchFamily="34" charset="-120"/>
              </a:rPr>
              <a:t>KRAS G12C突变蛋白</a:t>
            </a:r>
            <a:r>
              <a:rPr lang="en-US" sz="1200" dirty="0">
                <a:solidFill>
                  <a:srgbClr val="475569"/>
                </a:solidFill>
                <a:latin typeface="Arial" pitchFamily="34" charset="0"/>
                <a:ea typeface="Arial" pitchFamily="34" charset="-122"/>
                <a:cs typeface="Arial" pitchFamily="34" charset="-120"/>
              </a:rPr>
              <a:t>的活性位点及其共价抑制剂Sotorasib。</a:t>
            </a:r>
            <a:endParaRPr lang="en-US" sz="1200" dirty="0"/>
          </a:p>
        </p:txBody>
      </p:sp>
      <p:sp>
        <p:nvSpPr>
          <p:cNvPr id="10" name="Text 4"/>
          <p:cNvSpPr/>
          <p:nvPr/>
        </p:nvSpPr>
        <p:spPr>
          <a:xfrm>
            <a:off x="1152496" y="3076498"/>
            <a:ext cx="2961820" cy="742931"/>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将活性位点的关键残基构象变化与药物结合模式，抽象为离散变量，构建</a:t>
            </a:r>
            <a:r>
              <a:rPr lang="en-US" sz="1200" b="1" dirty="0">
                <a:solidFill>
                  <a:srgbClr val="4338CA"/>
                </a:solidFill>
                <a:latin typeface="Arial" pitchFamily="34" charset="0"/>
                <a:ea typeface="Arial" pitchFamily="34" charset="-122"/>
                <a:cs typeface="Arial" pitchFamily="34" charset="-120"/>
              </a:rPr>
              <a:t>QUBO（二次无约束二元优化）模型</a:t>
            </a:r>
            <a:r>
              <a:rPr lang="en-US" sz="1200" dirty="0">
                <a:solidFill>
                  <a:srgbClr val="475569"/>
                </a:solidFill>
                <a:latin typeface="Arial" pitchFamily="34" charset="0"/>
                <a:ea typeface="Arial" pitchFamily="34" charset="-122"/>
                <a:cs typeface="Arial" pitchFamily="34" charset="-120"/>
              </a:rPr>
              <a:t>。</a:t>
            </a:r>
            <a:endParaRPr lang="en-US" sz="1200" dirty="0"/>
          </a:p>
        </p:txBody>
      </p:sp>
      <p:sp>
        <p:nvSpPr>
          <p:cNvPr id="11" name="Text 5"/>
          <p:cNvSpPr/>
          <p:nvPr/>
        </p:nvSpPr>
        <p:spPr>
          <a:xfrm>
            <a:off x="1152496" y="5114797"/>
            <a:ext cx="2961820" cy="390515"/>
          </a:xfrm>
          <a:prstGeom prst="rect">
            <a:avLst/>
          </a:prstGeom>
          <a:noFill/>
          <a:ln/>
        </p:spPr>
        <p:txBody>
          <a:bodyPr wrap="square" lIns="0" tIns="0" rIns="0" bIns="0" rtlCol="0" anchor="ctr"/>
          <a:lstStyle/>
          <a:p>
            <a:pPr marL="0" indent="0" algn="l">
              <a:buNone/>
            </a:pPr>
            <a:r>
              <a:rPr lang="en-US" sz="900" dirty="0">
                <a:solidFill>
                  <a:srgbClr val="94A3B8"/>
                </a:solidFill>
                <a:latin typeface="Arial" pitchFamily="34" charset="0"/>
                <a:ea typeface="Arial" pitchFamily="34" charset="-122"/>
                <a:cs typeface="Arial" pitchFamily="34" charset="-120"/>
              </a:rPr>
              <a:t>System Selection &amp; Simplification</a:t>
            </a:r>
            <a:endParaRPr lang="en-US" sz="1200" dirty="0"/>
          </a:p>
        </p:txBody>
      </p:sp>
      <p:pic>
        <p:nvPicPr>
          <p:cNvPr id="12" name="Image 4" descr="preencoded.png"/>
          <p:cNvPicPr>
            <a:picLocks noChangeAspect="1"/>
          </p:cNvPicPr>
          <p:nvPr/>
        </p:nvPicPr>
        <p:blipFill>
          <a:blip r:embed="rId5"/>
          <a:stretch>
            <a:fillRect/>
          </a:stretch>
        </p:blipFill>
        <p:spPr>
          <a:xfrm>
            <a:off x="4533787" y="1381090"/>
            <a:ext cx="3428914" cy="4362341"/>
          </a:xfrm>
          <a:prstGeom prst="rect">
            <a:avLst/>
          </a:prstGeom>
        </p:spPr>
      </p:pic>
      <p:sp>
        <p:nvSpPr>
          <p:cNvPr id="13" name="Text 6"/>
          <p:cNvSpPr/>
          <p:nvPr/>
        </p:nvSpPr>
        <p:spPr>
          <a:xfrm>
            <a:off x="4771906" y="1619210"/>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02</a:t>
            </a:r>
            <a:endParaRPr lang="en-US" sz="2250" dirty="0"/>
          </a:p>
        </p:txBody>
      </p:sp>
      <p:pic>
        <p:nvPicPr>
          <p:cNvPr id="14" name="Image 5" descr="preencoded.png"/>
          <p:cNvPicPr>
            <a:picLocks noChangeAspect="1"/>
          </p:cNvPicPr>
          <p:nvPr/>
        </p:nvPicPr>
        <p:blipFill>
          <a:blip r:embed="rId6"/>
          <a:stretch>
            <a:fillRect/>
          </a:stretch>
        </p:blipFill>
        <p:spPr>
          <a:xfrm>
            <a:off x="5171946" y="1781130"/>
            <a:ext cx="304792" cy="19050"/>
          </a:xfrm>
          <a:prstGeom prst="rect">
            <a:avLst/>
          </a:prstGeom>
        </p:spPr>
      </p:pic>
      <p:sp>
        <p:nvSpPr>
          <p:cNvPr id="15" name="Text 7"/>
          <p:cNvSpPr/>
          <p:nvPr/>
        </p:nvSpPr>
        <p:spPr>
          <a:xfrm>
            <a:off x="4771906" y="2114497"/>
            <a:ext cx="2961820" cy="238119"/>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量子计算求解</a:t>
            </a:r>
            <a:endParaRPr lang="en-US" sz="1500" dirty="0"/>
          </a:p>
        </p:txBody>
      </p:sp>
      <p:sp>
        <p:nvSpPr>
          <p:cNvPr id="16" name="Text 8"/>
          <p:cNvSpPr/>
          <p:nvPr/>
        </p:nvSpPr>
        <p:spPr>
          <a:xfrm>
            <a:off x="4771906" y="2466913"/>
            <a:ext cx="2961820" cy="742931"/>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使用</a:t>
            </a:r>
            <a:r>
              <a:rPr lang="en-US" sz="1200" b="1" dirty="0">
                <a:solidFill>
                  <a:srgbClr val="4338CA"/>
                </a:solidFill>
                <a:latin typeface="Arial" pitchFamily="34" charset="0"/>
                <a:ea typeface="Arial" pitchFamily="34" charset="-122"/>
                <a:cs typeface="Arial" pitchFamily="34" charset="-120"/>
              </a:rPr>
              <a:t>量子退火器</a:t>
            </a:r>
            <a:r>
              <a:rPr lang="en-US" sz="1200" dirty="0">
                <a:solidFill>
                  <a:srgbClr val="475569"/>
                </a:solidFill>
                <a:latin typeface="Arial" pitchFamily="34" charset="0"/>
                <a:ea typeface="Arial" pitchFamily="34" charset="-122"/>
                <a:cs typeface="Arial" pitchFamily="34" charset="-120"/>
              </a:rPr>
              <a:t>（如D-Wave）求解该QUBO问题，寻找在给定能量函数下的最优构象-结合组合。</a:t>
            </a:r>
            <a:endParaRPr lang="en-US" sz="1200" dirty="0"/>
          </a:p>
        </p:txBody>
      </p:sp>
      <p:sp>
        <p:nvSpPr>
          <p:cNvPr id="17" name="Text 9"/>
          <p:cNvSpPr/>
          <p:nvPr/>
        </p:nvSpPr>
        <p:spPr>
          <a:xfrm>
            <a:off x="4771906" y="3324142"/>
            <a:ext cx="2961820" cy="742931"/>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通过调整哈密顿量中的参数，模拟微重力对构象能量景观的扰动（如改变与扩散、溶剂化相关的权重）。</a:t>
            </a:r>
            <a:endParaRPr lang="en-US" sz="1200" dirty="0"/>
          </a:p>
        </p:txBody>
      </p:sp>
      <p:sp>
        <p:nvSpPr>
          <p:cNvPr id="18" name="Text 10"/>
          <p:cNvSpPr/>
          <p:nvPr/>
        </p:nvSpPr>
        <p:spPr>
          <a:xfrm>
            <a:off x="4771906" y="5114797"/>
            <a:ext cx="2961820" cy="390515"/>
          </a:xfrm>
          <a:prstGeom prst="rect">
            <a:avLst/>
          </a:prstGeom>
          <a:noFill/>
          <a:ln/>
        </p:spPr>
        <p:txBody>
          <a:bodyPr wrap="square" lIns="0" tIns="0" rIns="0" bIns="0" rtlCol="0" anchor="ctr"/>
          <a:lstStyle/>
          <a:p>
            <a:pPr marL="0" indent="0" algn="l">
              <a:buNone/>
            </a:pPr>
            <a:r>
              <a:rPr lang="en-US" sz="900" dirty="0">
                <a:solidFill>
                  <a:srgbClr val="94A3B8"/>
                </a:solidFill>
                <a:latin typeface="Arial" pitchFamily="34" charset="0"/>
                <a:ea typeface="Arial" pitchFamily="34" charset="-122"/>
                <a:cs typeface="Arial" pitchFamily="34" charset="-120"/>
              </a:rPr>
              <a:t>Quantum Computing Solution</a:t>
            </a:r>
            <a:endParaRPr lang="en-US" sz="1200" dirty="0"/>
          </a:p>
        </p:txBody>
      </p:sp>
      <p:pic>
        <p:nvPicPr>
          <p:cNvPr id="19" name="Image 6" descr="preencoded.png"/>
          <p:cNvPicPr>
            <a:picLocks noChangeAspect="1"/>
          </p:cNvPicPr>
          <p:nvPr/>
        </p:nvPicPr>
        <p:blipFill>
          <a:blip r:embed="rId5"/>
          <a:stretch>
            <a:fillRect/>
          </a:stretch>
        </p:blipFill>
        <p:spPr>
          <a:xfrm>
            <a:off x="8153196" y="1381090"/>
            <a:ext cx="3428914" cy="4362341"/>
          </a:xfrm>
          <a:prstGeom prst="rect">
            <a:avLst/>
          </a:prstGeom>
        </p:spPr>
      </p:pic>
      <p:sp>
        <p:nvSpPr>
          <p:cNvPr id="20" name="Text 11"/>
          <p:cNvSpPr/>
          <p:nvPr/>
        </p:nvSpPr>
        <p:spPr>
          <a:xfrm>
            <a:off x="8391315" y="1619210"/>
            <a:ext cx="294887" cy="342891"/>
          </a:xfrm>
          <a:prstGeom prst="rect">
            <a:avLst/>
          </a:prstGeom>
          <a:noFill/>
          <a:ln/>
        </p:spPr>
        <p:txBody>
          <a:bodyPr wrap="none" lIns="0" tIns="0" rIns="0" bIns="0" rtlCol="0" anchor="ctr"/>
          <a:lstStyle/>
          <a:p>
            <a:pPr marL="0" indent="0" algn="l">
              <a:buNone/>
            </a:pPr>
            <a:r>
              <a:rPr lang="en-US" sz="2250" b="1" dirty="0">
                <a:solidFill>
                  <a:srgbClr val="4338CA"/>
                </a:solidFill>
                <a:latin typeface="Arial" pitchFamily="34" charset="0"/>
                <a:ea typeface="Arial" pitchFamily="34" charset="-122"/>
                <a:cs typeface="Arial" pitchFamily="34" charset="-120"/>
              </a:rPr>
              <a:t>03</a:t>
            </a:r>
            <a:endParaRPr lang="en-US" sz="2250" dirty="0"/>
          </a:p>
        </p:txBody>
      </p:sp>
      <p:pic>
        <p:nvPicPr>
          <p:cNvPr id="21" name="Image 7" descr="preencoded.png"/>
          <p:cNvPicPr>
            <a:picLocks noChangeAspect="1"/>
          </p:cNvPicPr>
          <p:nvPr/>
        </p:nvPicPr>
        <p:blipFill>
          <a:blip r:embed="rId6"/>
          <a:stretch>
            <a:fillRect/>
          </a:stretch>
        </p:blipFill>
        <p:spPr>
          <a:xfrm>
            <a:off x="8791355" y="1781130"/>
            <a:ext cx="304792" cy="19050"/>
          </a:xfrm>
          <a:prstGeom prst="rect">
            <a:avLst/>
          </a:prstGeom>
        </p:spPr>
      </p:pic>
      <p:sp>
        <p:nvSpPr>
          <p:cNvPr id="22" name="Text 12"/>
          <p:cNvSpPr/>
          <p:nvPr/>
        </p:nvSpPr>
        <p:spPr>
          <a:xfrm>
            <a:off x="8391315" y="2114497"/>
            <a:ext cx="2961820" cy="238119"/>
          </a:xfrm>
          <a:prstGeom prst="rect">
            <a:avLst/>
          </a:prstGeom>
          <a:noFill/>
          <a:ln/>
        </p:spPr>
        <p:txBody>
          <a:bodyPr wrap="none" lIns="0" tIns="0" rIns="0" bIns="0" rtlCol="0" anchor="ctr"/>
          <a:lstStyle/>
          <a:p>
            <a:pPr marL="0" indent="0" algn="l">
              <a:buNone/>
            </a:pPr>
            <a:r>
              <a:rPr lang="en-US" sz="1500" b="1" dirty="0">
                <a:solidFill>
                  <a:srgbClr val="0F172A"/>
                </a:solidFill>
                <a:latin typeface="Arial" pitchFamily="34" charset="0"/>
                <a:ea typeface="Arial" pitchFamily="34" charset="-122"/>
                <a:cs typeface="Arial" pitchFamily="34" charset="-120"/>
              </a:rPr>
              <a:t>结果评估与对比</a:t>
            </a:r>
            <a:endParaRPr lang="en-US" sz="1500" dirty="0"/>
          </a:p>
        </p:txBody>
      </p:sp>
      <p:sp>
        <p:nvSpPr>
          <p:cNvPr id="23" name="Text 13"/>
          <p:cNvSpPr/>
          <p:nvPr/>
        </p:nvSpPr>
        <p:spPr>
          <a:xfrm>
            <a:off x="8391315" y="2466913"/>
            <a:ext cx="2961820" cy="742931"/>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对比量子退火器在</a:t>
            </a:r>
            <a:r>
              <a:rPr lang="en-US" sz="1200" b="1" dirty="0">
                <a:solidFill>
                  <a:srgbClr val="4338CA"/>
                </a:solidFill>
                <a:latin typeface="Arial" pitchFamily="34" charset="0"/>
                <a:ea typeface="Arial" pitchFamily="34" charset="-122"/>
                <a:cs typeface="Arial" pitchFamily="34" charset="-120"/>
              </a:rPr>
              <a:t>常重力</a:t>
            </a:r>
            <a:r>
              <a:rPr lang="en-US" sz="1200" dirty="0">
                <a:solidFill>
                  <a:srgbClr val="475569"/>
                </a:solidFill>
                <a:latin typeface="Arial" pitchFamily="34" charset="0"/>
                <a:ea typeface="Arial" pitchFamily="34" charset="-122"/>
                <a:cs typeface="Arial" pitchFamily="34" charset="-120"/>
              </a:rPr>
              <a:t>与</a:t>
            </a:r>
            <a:r>
              <a:rPr lang="en-US" sz="1200" b="1" dirty="0">
                <a:solidFill>
                  <a:srgbClr val="4338CA"/>
                </a:solidFill>
                <a:latin typeface="Arial" pitchFamily="34" charset="0"/>
                <a:ea typeface="Arial" pitchFamily="34" charset="-122"/>
                <a:cs typeface="Arial" pitchFamily="34" charset="-120"/>
              </a:rPr>
              <a:t>微重力</a:t>
            </a:r>
            <a:r>
              <a:rPr lang="en-US" sz="1200" dirty="0">
                <a:solidFill>
                  <a:srgbClr val="475569"/>
                </a:solidFill>
                <a:latin typeface="Arial" pitchFamily="34" charset="0"/>
                <a:ea typeface="Arial" pitchFamily="34" charset="-122"/>
                <a:cs typeface="Arial" pitchFamily="34" charset="-120"/>
              </a:rPr>
              <a:t>参数设置下得到的最优解分布、能量最低点及收敛路径。</a:t>
            </a:r>
            <a:endParaRPr lang="en-US" sz="1200" dirty="0"/>
          </a:p>
        </p:txBody>
      </p:sp>
      <p:sp>
        <p:nvSpPr>
          <p:cNvPr id="24" name="Text 14"/>
          <p:cNvSpPr/>
          <p:nvPr/>
        </p:nvSpPr>
        <p:spPr>
          <a:xfrm>
            <a:off x="8391315" y="3324142"/>
            <a:ext cx="2961820" cy="742931"/>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与经典模拟退火等算法结果进行对比，评估量子方法在求解此类问题上的精度与效率优势。</a:t>
            </a:r>
            <a:endParaRPr lang="en-US" sz="1200" dirty="0"/>
          </a:p>
        </p:txBody>
      </p:sp>
      <p:sp>
        <p:nvSpPr>
          <p:cNvPr id="25" name="Text 15"/>
          <p:cNvSpPr/>
          <p:nvPr/>
        </p:nvSpPr>
        <p:spPr>
          <a:xfrm>
            <a:off x="8391315" y="5114797"/>
            <a:ext cx="2961820" cy="390515"/>
          </a:xfrm>
          <a:prstGeom prst="rect">
            <a:avLst/>
          </a:prstGeom>
          <a:noFill/>
          <a:ln/>
        </p:spPr>
        <p:txBody>
          <a:bodyPr wrap="square" lIns="0" tIns="0" rIns="0" bIns="0" rtlCol="0" anchor="ctr"/>
          <a:lstStyle/>
          <a:p>
            <a:pPr marL="0" indent="0" algn="l">
              <a:buNone/>
            </a:pPr>
            <a:r>
              <a:rPr lang="en-US" sz="900" dirty="0">
                <a:solidFill>
                  <a:srgbClr val="94A3B8"/>
                </a:solidFill>
                <a:latin typeface="Arial" pitchFamily="34" charset="0"/>
                <a:ea typeface="Arial" pitchFamily="34" charset="-122"/>
                <a:cs typeface="Arial" pitchFamily="34" charset="-120"/>
              </a:rPr>
              <a:t>Result Evaluation &amp; Comparison</a:t>
            </a:r>
            <a:endParaRPr lang="en-US" sz="1200" dirty="0"/>
          </a:p>
        </p:txBody>
      </p:sp>
      <p:pic>
        <p:nvPicPr>
          <p:cNvPr id="26" name="Image 8" descr="preencoded.png"/>
          <p:cNvPicPr>
            <a:picLocks noChangeAspect="1"/>
          </p:cNvPicPr>
          <p:nvPr/>
        </p:nvPicPr>
        <p:blipFill>
          <a:blip r:embed="rId7"/>
          <a:stretch>
            <a:fillRect/>
          </a:stretch>
        </p:blipFill>
        <p:spPr>
          <a:xfrm>
            <a:off x="914377" y="5972026"/>
            <a:ext cx="10667733" cy="352416"/>
          </a:xfrm>
          <a:prstGeom prst="rect">
            <a:avLst/>
          </a:prstGeom>
        </p:spPr>
      </p:pic>
      <p:sp>
        <p:nvSpPr>
          <p:cNvPr id="27" name="Text 16"/>
          <p:cNvSpPr/>
          <p:nvPr/>
        </p:nvSpPr>
        <p:spPr>
          <a:xfrm>
            <a:off x="914377" y="6133947"/>
            <a:ext cx="10676877" cy="190495"/>
          </a:xfrm>
          <a:prstGeom prst="rect">
            <a:avLst/>
          </a:prstGeom>
          <a:noFill/>
          <a:ln/>
        </p:spPr>
        <p:txBody>
          <a:bodyPr wrap="none" lIns="0" tIns="0" rIns="0" bIns="0" rtlCol="0" anchor="ctr"/>
          <a:lstStyle/>
          <a:p>
            <a:pPr marL="0" indent="0" algn="l">
              <a:buNone/>
            </a:pPr>
            <a:r>
              <a:rPr lang="en-US" sz="1050" dirty="0">
                <a:solidFill>
                  <a:srgbClr val="64748B"/>
                </a:solidFill>
                <a:latin typeface="Arial" pitchFamily="34" charset="0"/>
                <a:ea typeface="Arial" pitchFamily="34" charset="-122"/>
                <a:cs typeface="Arial" pitchFamily="34" charset="-120"/>
              </a:rPr>
              <a:t>通过将复杂的生物物理问题转化为量子计算可处理的优化问题，设计对比实验评估微重力效应，体现方案的严谨性与创新性。</a:t>
            </a:r>
            <a:endParaRPr lang="en-US" sz="1050" dirty="0"/>
          </a:p>
        </p:txBody>
      </p:sp>
      <p:pic>
        <p:nvPicPr>
          <p:cNvPr id="28" name="Image 9" descr="preencoded.png"/>
          <p:cNvPicPr>
            <a:picLocks noChangeAspect="1"/>
          </p:cNvPicPr>
          <p:nvPr/>
        </p:nvPicPr>
        <p:blipFill>
          <a:blip r:embed="rId8">
            <a:alphaModFix amt="10000"/>
          </a:blip>
          <a:stretch>
            <a:fillRect/>
          </a:stretch>
        </p:blipFill>
        <p:spPr>
          <a:xfrm>
            <a:off x="11001100" y="5667233"/>
            <a:ext cx="866753" cy="86675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5BE4C-50BA-4308-815A-1EC4FC6FA68F}"/>
              </a:ext>
            </a:extLst>
          </p:cNvPr>
          <p:cNvSpPr>
            <a:spLocks noGrp="1"/>
          </p:cNvSpPr>
          <p:nvPr>
            <p:ph type="title"/>
          </p:nvPr>
        </p:nvSpPr>
        <p:spPr>
          <a:xfrm>
            <a:off x="0" y="1"/>
            <a:ext cx="12192000" cy="1690688"/>
          </a:xfrm>
        </p:spPr>
        <p:txBody>
          <a:bodyPr>
            <a:noAutofit/>
          </a:bodyPr>
          <a:lstStyle/>
          <a:p>
            <a:r>
              <a:rPr lang="zh-CN" altLang="en-US" sz="3600" dirty="0">
                <a:latin typeface="Times New Roman" panose="02020603050405020304" pitchFamily="18" charset="0"/>
                <a:cs typeface="Times New Roman" panose="02020603050405020304" pitchFamily="18" charset="0"/>
              </a:rPr>
              <a:t>应用场景：</a:t>
            </a:r>
            <a:br>
              <a:rPr lang="en-US" altLang="zh-CN" sz="3600" dirty="0">
                <a:latin typeface="Times New Roman" panose="02020603050405020304" pitchFamily="18" charset="0"/>
                <a:cs typeface="Times New Roman" panose="02020603050405020304" pitchFamily="18" charset="0"/>
              </a:rPr>
            </a:br>
            <a:r>
              <a:rPr lang="en-US" altLang="zh-CN" sz="3600" dirty="0">
                <a:latin typeface="Times New Roman" panose="02020603050405020304" pitchFamily="18" charset="0"/>
                <a:cs typeface="Times New Roman" panose="02020603050405020304" pitchFamily="18" charset="0"/>
              </a:rPr>
              <a:t>De novo creation of a naked eye–detectable fluorescent molecule based on quantum chemical computation and machine learning</a:t>
            </a:r>
            <a:endParaRPr lang="zh-CN" altLang="en-US" sz="3600" dirty="0">
              <a:latin typeface="Times New Roman" panose="02020603050405020304" pitchFamily="18" charset="0"/>
              <a:cs typeface="Times New Roman" panose="02020603050405020304" pitchFamily="18" charset="0"/>
            </a:endParaRPr>
          </a:p>
        </p:txBody>
      </p:sp>
      <p:pic>
        <p:nvPicPr>
          <p:cNvPr id="5" name="内容占位符 4">
            <a:extLst>
              <a:ext uri="{FF2B5EF4-FFF2-40B4-BE49-F238E27FC236}">
                <a16:creationId xmlns:a16="http://schemas.microsoft.com/office/drawing/2014/main" id="{B97E3CB8-C876-465F-BB86-108B3BFAB769}"/>
              </a:ext>
            </a:extLst>
          </p:cNvPr>
          <p:cNvPicPr>
            <a:picLocks noGrp="1" noChangeAspect="1"/>
          </p:cNvPicPr>
          <p:nvPr>
            <p:ph idx="1"/>
          </p:nvPr>
        </p:nvPicPr>
        <p:blipFill>
          <a:blip r:embed="rId3"/>
          <a:stretch>
            <a:fillRect/>
          </a:stretch>
        </p:blipFill>
        <p:spPr>
          <a:xfrm>
            <a:off x="4060128" y="1690689"/>
            <a:ext cx="4071744" cy="4095500"/>
          </a:xfrm>
          <a:prstGeom prst="rect">
            <a:avLst/>
          </a:prstGeom>
        </p:spPr>
      </p:pic>
      <p:sp>
        <p:nvSpPr>
          <p:cNvPr id="6" name="文本框 5">
            <a:extLst>
              <a:ext uri="{FF2B5EF4-FFF2-40B4-BE49-F238E27FC236}">
                <a16:creationId xmlns:a16="http://schemas.microsoft.com/office/drawing/2014/main" id="{15C57CDD-E789-41EF-A3B3-A38EA2FE71B7}"/>
              </a:ext>
            </a:extLst>
          </p:cNvPr>
          <p:cNvSpPr txBox="1"/>
          <p:nvPr/>
        </p:nvSpPr>
        <p:spPr>
          <a:xfrm>
            <a:off x="0" y="6207067"/>
            <a:ext cx="12192000" cy="646331"/>
          </a:xfrm>
          <a:prstGeom prst="rect">
            <a:avLst/>
          </a:prstGeom>
          <a:noFill/>
        </p:spPr>
        <p:txBody>
          <a:bodyPr wrap="square">
            <a:spAutoFit/>
          </a:bodyPr>
          <a:lstStyle/>
          <a:p>
            <a:r>
              <a:rPr lang="en-US" altLang="zh-CN"/>
              <a:t>[1] Masato </a:t>
            </a:r>
            <a:r>
              <a:rPr lang="en-US" altLang="zh-CN" dirty="0" err="1"/>
              <a:t>Sumita</a:t>
            </a:r>
            <a:r>
              <a:rPr lang="en-US" altLang="zh-CN" dirty="0"/>
              <a:t> et al. ,De novo creation of a naked eye–detectable fluorescent molecule based on quantum chemical computation and machine </a:t>
            </a:r>
            <a:r>
              <a:rPr lang="en-US" altLang="zh-CN" dirty="0" err="1"/>
              <a:t>learning.Sci</a:t>
            </a:r>
            <a:r>
              <a:rPr lang="en-US" altLang="zh-CN" dirty="0"/>
              <a:t>. Adv.8,eabj3906(2022).DOI:10.1126/sciadv.abj3906</a:t>
            </a:r>
            <a:endParaRPr lang="zh-CN" altLang="en-US" dirty="0"/>
          </a:p>
        </p:txBody>
      </p:sp>
    </p:spTree>
    <p:extLst>
      <p:ext uri="{BB962C8B-B14F-4D97-AF65-F5344CB8AC3E}">
        <p14:creationId xmlns:p14="http://schemas.microsoft.com/office/powerpoint/2010/main" val="2142623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761981" y="304792"/>
            <a:ext cx="10829273"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与经典计算对比分析</a:t>
            </a:r>
            <a:endParaRPr lang="en-US" sz="3000" dirty="0"/>
          </a:p>
        </p:txBody>
      </p:sp>
      <p:pic>
        <p:nvPicPr>
          <p:cNvPr id="5" name="Image 2" descr="preencoded.png"/>
          <p:cNvPicPr>
            <a:picLocks noChangeAspect="1"/>
          </p:cNvPicPr>
          <p:nvPr/>
        </p:nvPicPr>
        <p:blipFill>
          <a:blip r:embed="rId5"/>
          <a:stretch>
            <a:fillRect/>
          </a:stretch>
        </p:blipFill>
        <p:spPr>
          <a:xfrm>
            <a:off x="761981" y="1104872"/>
            <a:ext cx="10820129" cy="361941"/>
          </a:xfrm>
          <a:prstGeom prst="rect">
            <a:avLst/>
          </a:prstGeom>
        </p:spPr>
      </p:pic>
      <p:sp>
        <p:nvSpPr>
          <p:cNvPr id="6" name="Text 1"/>
          <p:cNvSpPr/>
          <p:nvPr/>
        </p:nvSpPr>
        <p:spPr>
          <a:xfrm>
            <a:off x="761981" y="1104872"/>
            <a:ext cx="1533106" cy="228594"/>
          </a:xfrm>
          <a:prstGeom prst="rect">
            <a:avLst/>
          </a:prstGeom>
          <a:noFill/>
          <a:ln/>
        </p:spPr>
        <p:txBody>
          <a:bodyPr wrap="none" lIns="0" tIns="0" rIns="0" bIns="0" rtlCol="0" anchor="ctr"/>
          <a:lstStyle/>
          <a:p>
            <a:pPr marL="0" indent="0" algn="l">
              <a:buNone/>
            </a:pPr>
            <a:r>
              <a:rPr lang="en-US" sz="1050" b="1" dirty="0">
                <a:solidFill>
                  <a:srgbClr val="64748B"/>
                </a:solidFill>
                <a:latin typeface="Arial" pitchFamily="34" charset="0"/>
                <a:ea typeface="Arial" pitchFamily="34" charset="-122"/>
                <a:cs typeface="Arial" pitchFamily="34" charset="-120"/>
              </a:rPr>
              <a:t>维度</a:t>
            </a:r>
            <a:endParaRPr lang="en-US" sz="1050" dirty="0"/>
          </a:p>
        </p:txBody>
      </p:sp>
      <p:pic>
        <p:nvPicPr>
          <p:cNvPr id="7" name="Image 3" descr="preencoded.png"/>
          <p:cNvPicPr>
            <a:picLocks noChangeAspect="1"/>
          </p:cNvPicPr>
          <p:nvPr/>
        </p:nvPicPr>
        <p:blipFill>
          <a:blip r:embed="rId6"/>
          <a:stretch>
            <a:fillRect/>
          </a:stretch>
        </p:blipFill>
        <p:spPr>
          <a:xfrm>
            <a:off x="2514537" y="1142971"/>
            <a:ext cx="152396" cy="152396"/>
          </a:xfrm>
          <a:prstGeom prst="rect">
            <a:avLst/>
          </a:prstGeom>
        </p:spPr>
      </p:pic>
      <p:sp>
        <p:nvSpPr>
          <p:cNvPr id="8" name="Text 2"/>
          <p:cNvSpPr/>
          <p:nvPr/>
        </p:nvSpPr>
        <p:spPr>
          <a:xfrm>
            <a:off x="2743131" y="1133447"/>
            <a:ext cx="1609304" cy="161921"/>
          </a:xfrm>
          <a:prstGeom prst="rect">
            <a:avLst/>
          </a:prstGeom>
          <a:noFill/>
          <a:ln/>
        </p:spPr>
        <p:txBody>
          <a:bodyPr wrap="none" lIns="0" tIns="0" rIns="0" bIns="0" rtlCol="0" anchor="ctr"/>
          <a:lstStyle/>
          <a:p>
            <a:pPr marL="0" indent="0" algn="l">
              <a:buNone/>
            </a:pPr>
            <a:r>
              <a:rPr lang="en-US" sz="1200" b="1" dirty="0">
                <a:solidFill>
                  <a:srgbClr val="4338CA"/>
                </a:solidFill>
                <a:latin typeface="Arial" pitchFamily="34" charset="0"/>
                <a:ea typeface="Arial" pitchFamily="34" charset="-122"/>
                <a:cs typeface="Arial" pitchFamily="34" charset="-120"/>
              </a:rPr>
              <a:t>量子计算（8量子比特）</a:t>
            </a:r>
            <a:endParaRPr lang="en-US" sz="1200" dirty="0"/>
          </a:p>
        </p:txBody>
      </p:sp>
      <p:pic>
        <p:nvPicPr>
          <p:cNvPr id="9" name="Image 4" descr="preencoded.png"/>
          <p:cNvPicPr>
            <a:picLocks noChangeAspect="1"/>
          </p:cNvPicPr>
          <p:nvPr/>
        </p:nvPicPr>
        <p:blipFill>
          <a:blip r:embed="rId7"/>
          <a:stretch>
            <a:fillRect/>
          </a:stretch>
        </p:blipFill>
        <p:spPr>
          <a:xfrm>
            <a:off x="7162621" y="1142971"/>
            <a:ext cx="152396" cy="152396"/>
          </a:xfrm>
          <a:prstGeom prst="rect">
            <a:avLst/>
          </a:prstGeom>
        </p:spPr>
      </p:pic>
      <p:sp>
        <p:nvSpPr>
          <p:cNvPr id="10" name="Text 3"/>
          <p:cNvSpPr/>
          <p:nvPr/>
        </p:nvSpPr>
        <p:spPr>
          <a:xfrm>
            <a:off x="7391215" y="1133447"/>
            <a:ext cx="618729" cy="161921"/>
          </a:xfrm>
          <a:prstGeom prst="rect">
            <a:avLst/>
          </a:prstGeom>
          <a:noFill/>
          <a:ln/>
        </p:spPr>
        <p:txBody>
          <a:bodyPr wrap="none" lIns="0" tIns="0" rIns="0" bIns="0" rtlCol="0" anchor="ctr"/>
          <a:lstStyle/>
          <a:p>
            <a:pPr marL="0" indent="0" algn="l">
              <a:buNone/>
            </a:pPr>
            <a:r>
              <a:rPr lang="en-US" sz="1200" b="1" dirty="0">
                <a:solidFill>
                  <a:srgbClr val="475569"/>
                </a:solidFill>
                <a:latin typeface="Arial" pitchFamily="34" charset="0"/>
                <a:ea typeface="Arial" pitchFamily="34" charset="-122"/>
                <a:cs typeface="Arial" pitchFamily="34" charset="-120"/>
              </a:rPr>
              <a:t>经典计算</a:t>
            </a:r>
            <a:endParaRPr lang="en-US" sz="1200" dirty="0"/>
          </a:p>
        </p:txBody>
      </p:sp>
      <p:pic>
        <p:nvPicPr>
          <p:cNvPr id="11" name="Image 5" descr="preencoded.png"/>
          <p:cNvPicPr>
            <a:picLocks noChangeAspect="1"/>
          </p:cNvPicPr>
          <p:nvPr/>
        </p:nvPicPr>
        <p:blipFill>
          <a:blip r:embed="rId8"/>
          <a:stretch>
            <a:fillRect/>
          </a:stretch>
        </p:blipFill>
        <p:spPr>
          <a:xfrm>
            <a:off x="761981" y="1619210"/>
            <a:ext cx="10820129" cy="962001"/>
          </a:xfrm>
          <a:prstGeom prst="rect">
            <a:avLst/>
          </a:prstGeom>
        </p:spPr>
      </p:pic>
      <p:sp>
        <p:nvSpPr>
          <p:cNvPr id="12" name="Text 4"/>
          <p:cNvSpPr/>
          <p:nvPr/>
        </p:nvSpPr>
        <p:spPr>
          <a:xfrm>
            <a:off x="761981" y="1771606"/>
            <a:ext cx="1533106" cy="647684"/>
          </a:xfrm>
          <a:prstGeom prst="rect">
            <a:avLst/>
          </a:prstGeom>
          <a:noFill/>
          <a:ln/>
        </p:spPr>
        <p:txBody>
          <a:bodyPr wrap="square" lIns="0" tIns="0" rIns="0" bIns="0" rtlCol="0" anchor="ctr"/>
          <a:lstStyle/>
          <a:p>
            <a:pPr marL="0" indent="0" algn="l">
              <a:buNone/>
            </a:pPr>
            <a:r>
              <a:rPr lang="en-US" sz="1350" b="1" dirty="0">
                <a:solidFill>
                  <a:srgbClr val="4338CA"/>
                </a:solidFill>
                <a:latin typeface="Arial" pitchFamily="34" charset="0"/>
                <a:ea typeface="Arial" pitchFamily="34" charset="-122"/>
                <a:cs typeface="Arial" pitchFamily="34" charset="-120"/>
              </a:rPr>
              <a:t>强关联体系精度</a:t>
            </a:r>
            <a:endParaRPr lang="en-US" sz="1350" dirty="0"/>
          </a:p>
        </p:txBody>
      </p:sp>
      <p:sp>
        <p:nvSpPr>
          <p:cNvPr id="13" name="Text 5"/>
          <p:cNvSpPr/>
          <p:nvPr/>
        </p:nvSpPr>
        <p:spPr>
          <a:xfrm>
            <a:off x="2514537" y="1771606"/>
            <a:ext cx="4428634" cy="647684"/>
          </a:xfrm>
          <a:prstGeom prst="rect">
            <a:avLst/>
          </a:prstGeom>
          <a:noFill/>
          <a:ln/>
        </p:spPr>
        <p:txBody>
          <a:bodyPr wrap="square" lIns="0" tIns="0" rIns="0" bIns="0" rtlCol="0" anchor="ctr"/>
          <a:lstStyle/>
          <a:p>
            <a:pPr marL="0" indent="0" algn="l">
              <a:buNone/>
            </a:pPr>
            <a:r>
              <a:rPr lang="en-US" sz="1200" dirty="0">
                <a:solidFill>
                  <a:srgbClr val="1E293B"/>
                </a:solidFill>
                <a:latin typeface="Arial" pitchFamily="34" charset="0"/>
                <a:ea typeface="Arial" pitchFamily="34" charset="-122"/>
                <a:cs typeface="Arial" pitchFamily="34" charset="-120"/>
              </a:rPr>
              <a:t>在处理含过渡金属等强关联活性位点时，</a:t>
            </a:r>
            <a:r>
              <a:rPr lang="en-US" sz="1200" b="1" dirty="0">
                <a:solidFill>
                  <a:srgbClr val="4338CA"/>
                </a:solidFill>
                <a:latin typeface="Arial" pitchFamily="34" charset="0"/>
                <a:ea typeface="Arial" pitchFamily="34" charset="-122"/>
                <a:cs typeface="Arial" pitchFamily="34" charset="-120"/>
              </a:rPr>
              <a:t>VQE/QCM等方法精度已可与经典多参考方法（如CASCI）相当</a:t>
            </a:r>
            <a:r>
              <a:rPr lang="en-US" sz="1200" dirty="0">
                <a:solidFill>
                  <a:srgbClr val="1E293B"/>
                </a:solidFill>
                <a:latin typeface="Arial" pitchFamily="34" charset="0"/>
                <a:ea typeface="Arial" pitchFamily="34" charset="-122"/>
                <a:cs typeface="Arial" pitchFamily="34" charset="-120"/>
              </a:rPr>
              <a:t>。</a:t>
            </a:r>
            <a:endParaRPr lang="en-US" sz="1200" dirty="0"/>
          </a:p>
        </p:txBody>
      </p:sp>
      <p:sp>
        <p:nvSpPr>
          <p:cNvPr id="14" name="Text 6"/>
          <p:cNvSpPr/>
          <p:nvPr/>
        </p:nvSpPr>
        <p:spPr>
          <a:xfrm>
            <a:off x="7162621" y="1771606"/>
            <a:ext cx="4428634" cy="647684"/>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单参考方法（如DFT）精度受限，高精度多参考方法计算成本呈指数级增长。</a:t>
            </a:r>
            <a:endParaRPr lang="en-US" sz="1200" dirty="0"/>
          </a:p>
        </p:txBody>
      </p:sp>
      <p:pic>
        <p:nvPicPr>
          <p:cNvPr id="15" name="Image 6" descr="preencoded.png"/>
          <p:cNvPicPr>
            <a:picLocks noChangeAspect="1"/>
          </p:cNvPicPr>
          <p:nvPr/>
        </p:nvPicPr>
        <p:blipFill>
          <a:blip r:embed="rId8"/>
          <a:stretch>
            <a:fillRect/>
          </a:stretch>
        </p:blipFill>
        <p:spPr>
          <a:xfrm>
            <a:off x="761981" y="2581210"/>
            <a:ext cx="10820129" cy="962001"/>
          </a:xfrm>
          <a:prstGeom prst="rect">
            <a:avLst/>
          </a:prstGeom>
        </p:spPr>
      </p:pic>
      <p:sp>
        <p:nvSpPr>
          <p:cNvPr id="16" name="Text 7"/>
          <p:cNvSpPr/>
          <p:nvPr/>
        </p:nvSpPr>
        <p:spPr>
          <a:xfrm>
            <a:off x="761981" y="2733607"/>
            <a:ext cx="1533106" cy="647684"/>
          </a:xfrm>
          <a:prstGeom prst="rect">
            <a:avLst/>
          </a:prstGeom>
          <a:noFill/>
          <a:ln/>
        </p:spPr>
        <p:txBody>
          <a:bodyPr wrap="square" lIns="0" tIns="0" rIns="0" bIns="0" rtlCol="0" anchor="ctr"/>
          <a:lstStyle/>
          <a:p>
            <a:pPr marL="0" indent="0" algn="l">
              <a:buNone/>
            </a:pPr>
            <a:r>
              <a:rPr lang="en-US" sz="1350" b="1" dirty="0">
                <a:solidFill>
                  <a:srgbClr val="4338CA"/>
                </a:solidFill>
                <a:latin typeface="Arial" pitchFamily="34" charset="0"/>
                <a:ea typeface="Arial" pitchFamily="34" charset="-122"/>
                <a:cs typeface="Arial" pitchFamily="34" charset="-120"/>
              </a:rPr>
              <a:t>资源缩放性</a:t>
            </a:r>
            <a:endParaRPr lang="en-US" sz="1350" dirty="0"/>
          </a:p>
        </p:txBody>
      </p:sp>
      <p:sp>
        <p:nvSpPr>
          <p:cNvPr id="17" name="Text 8"/>
          <p:cNvSpPr/>
          <p:nvPr/>
        </p:nvSpPr>
        <p:spPr>
          <a:xfrm>
            <a:off x="2514537" y="2733607"/>
            <a:ext cx="4428634" cy="647684"/>
          </a:xfrm>
          <a:prstGeom prst="rect">
            <a:avLst/>
          </a:prstGeom>
          <a:noFill/>
          <a:ln/>
        </p:spPr>
        <p:txBody>
          <a:bodyPr wrap="square" lIns="0" tIns="0" rIns="0" bIns="0" rtlCol="0" anchor="ctr"/>
          <a:lstStyle/>
          <a:p>
            <a:pPr marL="0" indent="0" algn="l">
              <a:buNone/>
            </a:pPr>
            <a:r>
              <a:rPr lang="en-US" sz="1200" dirty="0">
                <a:solidFill>
                  <a:srgbClr val="1E293B"/>
                </a:solidFill>
                <a:latin typeface="Arial" pitchFamily="34" charset="0"/>
                <a:ea typeface="Arial" pitchFamily="34" charset="-122"/>
                <a:cs typeface="Arial" pitchFamily="34" charset="-120"/>
              </a:rPr>
              <a:t>理论上，VQE等算法的参数缩放为</a:t>
            </a:r>
            <a:r>
              <a:rPr lang="en-US" sz="1200" b="1" dirty="0">
                <a:solidFill>
                  <a:srgbClr val="4338CA"/>
                </a:solidFill>
                <a:latin typeface="Arial" pitchFamily="34" charset="0"/>
                <a:ea typeface="Arial" pitchFamily="34" charset="-122"/>
                <a:cs typeface="Arial" pitchFamily="34" charset="-120"/>
              </a:rPr>
              <a:t>O(N²)</a:t>
            </a:r>
            <a:r>
              <a:rPr lang="en-US" sz="1200" dirty="0">
                <a:solidFill>
                  <a:srgbClr val="1E293B"/>
                </a:solidFill>
                <a:latin typeface="Arial" pitchFamily="34" charset="0"/>
                <a:ea typeface="Arial" pitchFamily="34" charset="-122"/>
                <a:cs typeface="Arial" pitchFamily="34" charset="-120"/>
              </a:rPr>
              <a:t>，优于经典CCSD(T)的O(N⁶)至O(N⁷)，为未来扩展提供潜力。</a:t>
            </a:r>
            <a:endParaRPr lang="en-US" sz="1200" dirty="0"/>
          </a:p>
        </p:txBody>
      </p:sp>
      <p:sp>
        <p:nvSpPr>
          <p:cNvPr id="18" name="Text 9"/>
          <p:cNvSpPr/>
          <p:nvPr/>
        </p:nvSpPr>
        <p:spPr>
          <a:xfrm>
            <a:off x="7162621" y="2733607"/>
            <a:ext cx="4428634" cy="647684"/>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面对大分子系统时，计算资源需求急剧增加，存在"指数墙"瓶颈。</a:t>
            </a:r>
            <a:endParaRPr lang="en-US" sz="1200" dirty="0"/>
          </a:p>
        </p:txBody>
      </p:sp>
      <p:pic>
        <p:nvPicPr>
          <p:cNvPr id="19" name="Image 7" descr="preencoded.png"/>
          <p:cNvPicPr>
            <a:picLocks noChangeAspect="1"/>
          </p:cNvPicPr>
          <p:nvPr/>
        </p:nvPicPr>
        <p:blipFill>
          <a:blip r:embed="rId8"/>
          <a:stretch>
            <a:fillRect/>
          </a:stretch>
        </p:blipFill>
        <p:spPr>
          <a:xfrm>
            <a:off x="761981" y="3543211"/>
            <a:ext cx="10820129" cy="962001"/>
          </a:xfrm>
          <a:prstGeom prst="rect">
            <a:avLst/>
          </a:prstGeom>
        </p:spPr>
      </p:pic>
      <p:sp>
        <p:nvSpPr>
          <p:cNvPr id="20" name="Text 10"/>
          <p:cNvSpPr/>
          <p:nvPr/>
        </p:nvSpPr>
        <p:spPr>
          <a:xfrm>
            <a:off x="761981" y="3695608"/>
            <a:ext cx="1533106" cy="647684"/>
          </a:xfrm>
          <a:prstGeom prst="rect">
            <a:avLst/>
          </a:prstGeom>
          <a:noFill/>
          <a:ln/>
        </p:spPr>
        <p:txBody>
          <a:bodyPr wrap="square" lIns="0" tIns="0" rIns="0" bIns="0" rtlCol="0" anchor="ctr"/>
          <a:lstStyle/>
          <a:p>
            <a:pPr marL="0" indent="0" algn="l">
              <a:buNone/>
            </a:pPr>
            <a:r>
              <a:rPr lang="en-US" sz="1350" b="1" dirty="0">
                <a:solidFill>
                  <a:srgbClr val="4338CA"/>
                </a:solidFill>
                <a:latin typeface="Arial" pitchFamily="34" charset="0"/>
                <a:ea typeface="Arial" pitchFamily="34" charset="-122"/>
                <a:cs typeface="Arial" pitchFamily="34" charset="-120"/>
              </a:rPr>
              <a:t>组合优化</a:t>
            </a:r>
            <a:endParaRPr lang="en-US" sz="1350" dirty="0"/>
          </a:p>
        </p:txBody>
      </p:sp>
      <p:sp>
        <p:nvSpPr>
          <p:cNvPr id="21" name="Text 11"/>
          <p:cNvSpPr/>
          <p:nvPr/>
        </p:nvSpPr>
        <p:spPr>
          <a:xfrm>
            <a:off x="2514537" y="3695608"/>
            <a:ext cx="4428634" cy="647684"/>
          </a:xfrm>
          <a:prstGeom prst="rect">
            <a:avLst/>
          </a:prstGeom>
          <a:noFill/>
          <a:ln/>
        </p:spPr>
        <p:txBody>
          <a:bodyPr wrap="square" lIns="0" tIns="0" rIns="0" bIns="0" rtlCol="0" anchor="ctr"/>
          <a:lstStyle/>
          <a:p>
            <a:pPr marL="0" indent="0" algn="l">
              <a:buNone/>
            </a:pPr>
            <a:r>
              <a:rPr lang="en-US" sz="1200" dirty="0">
                <a:solidFill>
                  <a:srgbClr val="1E293B"/>
                </a:solidFill>
                <a:latin typeface="Arial" pitchFamily="34" charset="0"/>
                <a:ea typeface="Arial" pitchFamily="34" charset="-122"/>
                <a:cs typeface="Arial" pitchFamily="34" charset="-120"/>
              </a:rPr>
              <a:t>在蛋白质-配体对接等QUBO问题上，</a:t>
            </a:r>
            <a:r>
              <a:rPr lang="en-US" sz="1200" b="1" dirty="0">
                <a:solidFill>
                  <a:srgbClr val="4338CA"/>
                </a:solidFill>
                <a:latin typeface="Arial" pitchFamily="34" charset="0"/>
                <a:ea typeface="Arial" pitchFamily="34" charset="-122"/>
                <a:cs typeface="Arial" pitchFamily="34" charset="-120"/>
              </a:rPr>
              <a:t>量子退火器已能在小体系上达到与经典方法相当的精度</a:t>
            </a:r>
            <a:r>
              <a:rPr lang="en-US" sz="1200" dirty="0">
                <a:solidFill>
                  <a:srgbClr val="1E293B"/>
                </a:solidFill>
                <a:latin typeface="Arial" pitchFamily="34" charset="0"/>
                <a:ea typeface="Arial" pitchFamily="34" charset="-122"/>
                <a:cs typeface="Arial" pitchFamily="34" charset="-120"/>
              </a:rPr>
              <a:t>。</a:t>
            </a:r>
            <a:endParaRPr lang="en-US" sz="1200" dirty="0"/>
          </a:p>
        </p:txBody>
      </p:sp>
      <p:sp>
        <p:nvSpPr>
          <p:cNvPr id="22" name="Text 12"/>
          <p:cNvSpPr/>
          <p:nvPr/>
        </p:nvSpPr>
        <p:spPr>
          <a:xfrm>
            <a:off x="7162621" y="3695608"/>
            <a:ext cx="4428634" cy="647684"/>
          </a:xfrm>
          <a:prstGeom prst="rect">
            <a:avLst/>
          </a:prstGeom>
          <a:noFill/>
          <a:ln/>
        </p:spPr>
        <p:txBody>
          <a:bodyPr wrap="square" lIns="0" tIns="0" rIns="0" bIns="0" rtlCol="0" anchor="ctr"/>
          <a:lstStyle/>
          <a:p>
            <a:pPr marL="0" indent="0" algn="l">
              <a:buNone/>
            </a:pPr>
            <a:r>
              <a:rPr lang="en-US" sz="1200" dirty="0">
                <a:solidFill>
                  <a:srgbClr val="475569"/>
                </a:solidFill>
                <a:latin typeface="Arial" pitchFamily="34" charset="0"/>
                <a:ea typeface="Arial" pitchFamily="34" charset="-122"/>
                <a:cs typeface="Arial" pitchFamily="34" charset="-120"/>
              </a:rPr>
              <a:t>经典算法（如模拟退火）成熟，但在大规模问题上可能陷入局部最优。</a:t>
            </a:r>
            <a:endParaRPr lang="en-US" sz="1200" dirty="0"/>
          </a:p>
        </p:txBody>
      </p:sp>
      <p:sp>
        <p:nvSpPr>
          <p:cNvPr id="23" name="Text 13"/>
          <p:cNvSpPr/>
          <p:nvPr/>
        </p:nvSpPr>
        <p:spPr>
          <a:xfrm>
            <a:off x="761981" y="4657609"/>
            <a:ext cx="1533106" cy="1142971"/>
          </a:xfrm>
          <a:prstGeom prst="rect">
            <a:avLst/>
          </a:prstGeom>
          <a:noFill/>
          <a:ln/>
        </p:spPr>
        <p:txBody>
          <a:bodyPr wrap="square" lIns="0" tIns="0" rIns="0" bIns="0" rtlCol="0" anchor="ctr"/>
          <a:lstStyle/>
          <a:p>
            <a:pPr marL="0" indent="0" algn="l">
              <a:buNone/>
            </a:pPr>
            <a:r>
              <a:rPr lang="en-US" sz="1350" b="1" dirty="0">
                <a:solidFill>
                  <a:srgbClr val="4338CA"/>
                </a:solidFill>
                <a:latin typeface="Arial" pitchFamily="34" charset="0"/>
                <a:ea typeface="Arial" pitchFamily="34" charset="-122"/>
                <a:cs typeface="Arial" pitchFamily="34" charset="-120"/>
              </a:rPr>
              <a:t>当前局限</a:t>
            </a:r>
            <a:endParaRPr lang="en-US" sz="1350" dirty="0"/>
          </a:p>
        </p:txBody>
      </p:sp>
      <p:pic>
        <p:nvPicPr>
          <p:cNvPr id="24" name="Image 8" descr="preencoded.png"/>
          <p:cNvPicPr>
            <a:picLocks noChangeAspect="1"/>
          </p:cNvPicPr>
          <p:nvPr/>
        </p:nvPicPr>
        <p:blipFill>
          <a:blip r:embed="rId9"/>
          <a:stretch>
            <a:fillRect/>
          </a:stretch>
        </p:blipFill>
        <p:spPr>
          <a:xfrm>
            <a:off x="2514537" y="4657609"/>
            <a:ext cx="4419490" cy="1142971"/>
          </a:xfrm>
          <a:prstGeom prst="rect">
            <a:avLst/>
          </a:prstGeom>
        </p:spPr>
      </p:pic>
      <p:sp>
        <p:nvSpPr>
          <p:cNvPr id="25" name="Text 14"/>
          <p:cNvSpPr/>
          <p:nvPr/>
        </p:nvSpPr>
        <p:spPr>
          <a:xfrm>
            <a:off x="2705032" y="4771906"/>
            <a:ext cx="466333" cy="161921"/>
          </a:xfrm>
          <a:prstGeom prst="rect">
            <a:avLst/>
          </a:prstGeom>
          <a:noFill/>
          <a:ln/>
        </p:spPr>
        <p:txBody>
          <a:bodyPr wrap="none" lIns="0" tIns="0" rIns="0" bIns="0" rtlCol="0" anchor="ctr"/>
          <a:lstStyle/>
          <a:p>
            <a:pPr marL="0" indent="0" algn="l">
              <a:buNone/>
            </a:pPr>
            <a:r>
              <a:rPr lang="en-US" sz="1200" b="1" dirty="0">
                <a:solidFill>
                  <a:srgbClr val="0F172A"/>
                </a:solidFill>
                <a:latin typeface="Arial" pitchFamily="34" charset="0"/>
                <a:ea typeface="Arial" pitchFamily="34" charset="-122"/>
                <a:cs typeface="Arial" pitchFamily="34" charset="-120"/>
              </a:rPr>
              <a:t>规模：</a:t>
            </a:r>
            <a:endParaRPr lang="en-US" sz="1200" dirty="0"/>
          </a:p>
        </p:txBody>
      </p:sp>
      <p:sp>
        <p:nvSpPr>
          <p:cNvPr id="26" name="Text 15"/>
          <p:cNvSpPr/>
          <p:nvPr/>
        </p:nvSpPr>
        <p:spPr>
          <a:xfrm>
            <a:off x="2705032" y="4771906"/>
            <a:ext cx="3971445" cy="409565"/>
          </a:xfrm>
          <a:prstGeom prst="rect">
            <a:avLst/>
          </a:prstGeom>
          <a:noFill/>
          <a:ln/>
        </p:spPr>
        <p:txBody>
          <a:bodyPr wrap="square" lIns="0" tIns="0" rIns="0" bIns="0" rtlCol="0" anchor="ctr"/>
          <a:lstStyle/>
          <a:p>
            <a:pPr marL="0" indent="0" algn="l">
              <a:buNone/>
            </a:pPr>
            <a:r>
              <a:rPr lang="en-US" sz="1200" dirty="0">
                <a:solidFill>
                  <a:srgbClr val="1E293B"/>
                </a:solidFill>
                <a:latin typeface="Arial" pitchFamily="34" charset="0"/>
                <a:ea typeface="Arial" pitchFamily="34" charset="-122"/>
                <a:cs typeface="Arial" pitchFamily="34" charset="-120"/>
              </a:rPr>
              <a:t>仅能处理极小体系或活性空间，无法模拟完整生物大分子。</a:t>
            </a:r>
            <a:endParaRPr lang="en-US" sz="1200" dirty="0"/>
          </a:p>
        </p:txBody>
      </p:sp>
      <p:sp>
        <p:nvSpPr>
          <p:cNvPr id="27" name="Text 16"/>
          <p:cNvSpPr/>
          <p:nvPr/>
        </p:nvSpPr>
        <p:spPr>
          <a:xfrm>
            <a:off x="2705032" y="5267193"/>
            <a:ext cx="466333" cy="161921"/>
          </a:xfrm>
          <a:prstGeom prst="rect">
            <a:avLst/>
          </a:prstGeom>
          <a:noFill/>
          <a:ln/>
        </p:spPr>
        <p:txBody>
          <a:bodyPr wrap="none" lIns="0" tIns="0" rIns="0" bIns="0" rtlCol="0" anchor="ctr"/>
          <a:lstStyle/>
          <a:p>
            <a:pPr marL="0" indent="0" algn="l">
              <a:buNone/>
            </a:pPr>
            <a:r>
              <a:rPr lang="en-US" sz="1200" b="1" dirty="0">
                <a:solidFill>
                  <a:srgbClr val="0F172A"/>
                </a:solidFill>
                <a:latin typeface="Arial" pitchFamily="34" charset="0"/>
                <a:ea typeface="Arial" pitchFamily="34" charset="-122"/>
                <a:cs typeface="Arial" pitchFamily="34" charset="-120"/>
              </a:rPr>
              <a:t>噪声：</a:t>
            </a:r>
            <a:endParaRPr lang="en-US" sz="1200" dirty="0"/>
          </a:p>
        </p:txBody>
      </p:sp>
      <p:sp>
        <p:nvSpPr>
          <p:cNvPr id="28" name="Text 17"/>
          <p:cNvSpPr/>
          <p:nvPr/>
        </p:nvSpPr>
        <p:spPr>
          <a:xfrm>
            <a:off x="2705032" y="5267193"/>
            <a:ext cx="3819049" cy="409565"/>
          </a:xfrm>
          <a:prstGeom prst="rect">
            <a:avLst/>
          </a:prstGeom>
          <a:noFill/>
          <a:ln/>
        </p:spPr>
        <p:txBody>
          <a:bodyPr wrap="square" lIns="0" tIns="0" rIns="0" bIns="0" rtlCol="0" anchor="ctr"/>
          <a:lstStyle/>
          <a:p>
            <a:pPr marL="0" indent="0" algn="l">
              <a:buNone/>
            </a:pPr>
            <a:r>
              <a:rPr lang="en-US" sz="1200" dirty="0">
                <a:solidFill>
                  <a:srgbClr val="1E293B"/>
                </a:solidFill>
                <a:latin typeface="Arial" pitchFamily="34" charset="0"/>
                <a:ea typeface="Arial" pitchFamily="34" charset="-122"/>
                <a:cs typeface="Arial" pitchFamily="34" charset="-120"/>
              </a:rPr>
              <a:t>硬件噪声严重影响结果，需依赖复杂的误差缓解技术。</a:t>
            </a:r>
            <a:endParaRPr lang="en-US" sz="1200" dirty="0"/>
          </a:p>
        </p:txBody>
      </p:sp>
      <p:sp>
        <p:nvSpPr>
          <p:cNvPr id="29" name="Text 18"/>
          <p:cNvSpPr/>
          <p:nvPr/>
        </p:nvSpPr>
        <p:spPr>
          <a:xfrm>
            <a:off x="7162621" y="4657609"/>
            <a:ext cx="4428634" cy="1142971"/>
          </a:xfrm>
          <a:prstGeom prst="rect">
            <a:avLst/>
          </a:prstGeom>
          <a:noFill/>
          <a:ln/>
        </p:spPr>
        <p:txBody>
          <a:bodyPr wrap="square" lIns="0" tIns="0" rIns="0" bIns="0" rtlCol="0" anchor="ctr"/>
          <a:lstStyle/>
          <a:p>
            <a:pPr marL="0" indent="0" algn="l">
              <a:buNone/>
            </a:pPr>
            <a:r>
              <a:rPr lang="en-US" sz="1200" b="1" dirty="0">
                <a:solidFill>
                  <a:srgbClr val="0F172A"/>
                </a:solidFill>
                <a:latin typeface="Arial" pitchFamily="34" charset="0"/>
                <a:ea typeface="Arial" pitchFamily="34" charset="-122"/>
                <a:cs typeface="Arial" pitchFamily="34" charset="-120"/>
              </a:rPr>
              <a:t>精度瓶颈：</a:t>
            </a:r>
            <a:r>
              <a:rPr lang="en-US" sz="1200" dirty="0">
                <a:solidFill>
                  <a:srgbClr val="475569"/>
                </a:solidFill>
                <a:latin typeface="Arial" pitchFamily="34" charset="0"/>
                <a:ea typeface="Arial" pitchFamily="34" charset="-122"/>
                <a:cs typeface="Arial" pitchFamily="34" charset="-120"/>
              </a:rPr>
              <a:t>在强关联体系和激发态计算上存在固有精度限制。</a:t>
            </a:r>
            <a:endParaRPr lang="en-US" sz="1200" dirty="0"/>
          </a:p>
        </p:txBody>
      </p:sp>
      <p:pic>
        <p:nvPicPr>
          <p:cNvPr id="30" name="Image 9" descr="preencoded.png"/>
          <p:cNvPicPr>
            <a:picLocks noChangeAspect="1"/>
          </p:cNvPicPr>
          <p:nvPr/>
        </p:nvPicPr>
        <p:blipFill>
          <a:blip r:embed="rId10">
            <a:alphaModFix amt="10000"/>
          </a:blip>
          <a:stretch>
            <a:fillRect/>
          </a:stretch>
        </p:blipFill>
        <p:spPr>
          <a:xfrm>
            <a:off x="11001100" y="5667233"/>
            <a:ext cx="866753" cy="86675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914377" y="533387"/>
            <a:ext cx="10676877"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可行性评估与发展路径</a:t>
            </a:r>
            <a:endParaRPr lang="en-US" sz="3000" dirty="0"/>
          </a:p>
        </p:txBody>
      </p:sp>
      <p:pic>
        <p:nvPicPr>
          <p:cNvPr id="5" name="Image 2" descr="preencoded.png"/>
          <p:cNvPicPr>
            <a:picLocks noChangeAspect="1"/>
          </p:cNvPicPr>
          <p:nvPr/>
        </p:nvPicPr>
        <p:blipFill>
          <a:blip r:embed="rId5"/>
          <a:stretch>
            <a:fillRect/>
          </a:stretch>
        </p:blipFill>
        <p:spPr>
          <a:xfrm>
            <a:off x="914377" y="1409665"/>
            <a:ext cx="5181470" cy="4914777"/>
          </a:xfrm>
          <a:prstGeom prst="rect">
            <a:avLst/>
          </a:prstGeom>
        </p:spPr>
      </p:pic>
      <p:pic>
        <p:nvPicPr>
          <p:cNvPr id="6" name="Image 3" descr="preencoded.png"/>
          <p:cNvPicPr>
            <a:picLocks noChangeAspect="1"/>
          </p:cNvPicPr>
          <p:nvPr/>
        </p:nvPicPr>
        <p:blipFill>
          <a:blip r:embed="rId6"/>
          <a:stretch>
            <a:fillRect/>
          </a:stretch>
        </p:blipFill>
        <p:spPr>
          <a:xfrm>
            <a:off x="1228694" y="1723982"/>
            <a:ext cx="457189" cy="457189"/>
          </a:xfrm>
          <a:prstGeom prst="rect">
            <a:avLst/>
          </a:prstGeom>
        </p:spPr>
      </p:pic>
      <p:pic>
        <p:nvPicPr>
          <p:cNvPr id="7" name="Image 4" descr="preencoded.png"/>
          <p:cNvPicPr>
            <a:picLocks noChangeAspect="1"/>
          </p:cNvPicPr>
          <p:nvPr/>
        </p:nvPicPr>
        <p:blipFill>
          <a:blip r:embed="rId7"/>
          <a:stretch>
            <a:fillRect/>
          </a:stretch>
        </p:blipFill>
        <p:spPr>
          <a:xfrm>
            <a:off x="1381090" y="1857329"/>
            <a:ext cx="171446" cy="190495"/>
          </a:xfrm>
          <a:prstGeom prst="rect">
            <a:avLst/>
          </a:prstGeom>
        </p:spPr>
      </p:pic>
      <p:sp>
        <p:nvSpPr>
          <p:cNvPr id="8" name="Text 1"/>
          <p:cNvSpPr/>
          <p:nvPr/>
        </p:nvSpPr>
        <p:spPr>
          <a:xfrm>
            <a:off x="1838279" y="1800180"/>
            <a:ext cx="2466533" cy="304792"/>
          </a:xfrm>
          <a:prstGeom prst="rect">
            <a:avLst/>
          </a:prstGeom>
          <a:noFill/>
          <a:ln/>
        </p:spPr>
        <p:txBody>
          <a:bodyPr wrap="none" lIns="0" tIns="0" rIns="0" bIns="0" rtlCol="0" anchor="ctr"/>
          <a:lstStyle/>
          <a:p>
            <a:pPr marL="0" indent="0" algn="l">
              <a:buNone/>
            </a:pPr>
            <a:r>
              <a:rPr lang="en-US" sz="1800" b="1" dirty="0">
                <a:solidFill>
                  <a:srgbClr val="0F172A"/>
                </a:solidFill>
                <a:latin typeface="Arial" pitchFamily="34" charset="0"/>
                <a:ea typeface="Arial" pitchFamily="34" charset="-122"/>
                <a:cs typeface="Arial" pitchFamily="34" charset="-120"/>
              </a:rPr>
              <a:t>当前定位：概念验证平台</a:t>
            </a:r>
            <a:endParaRPr lang="en-US" sz="1800" dirty="0"/>
          </a:p>
        </p:txBody>
      </p:sp>
      <p:pic>
        <p:nvPicPr>
          <p:cNvPr id="9" name="Image 5" descr="preencoded.png"/>
          <p:cNvPicPr>
            <a:picLocks noChangeAspect="1"/>
          </p:cNvPicPr>
          <p:nvPr/>
        </p:nvPicPr>
        <p:blipFill>
          <a:blip r:embed="rId8"/>
          <a:stretch>
            <a:fillRect/>
          </a:stretch>
        </p:blipFill>
        <p:spPr>
          <a:xfrm>
            <a:off x="1228694" y="2447864"/>
            <a:ext cx="304792" cy="304792"/>
          </a:xfrm>
          <a:prstGeom prst="rect">
            <a:avLst/>
          </a:prstGeom>
        </p:spPr>
      </p:pic>
      <p:pic>
        <p:nvPicPr>
          <p:cNvPr id="10" name="Image 6" descr="preencoded.png"/>
          <p:cNvPicPr>
            <a:picLocks noChangeAspect="1"/>
          </p:cNvPicPr>
          <p:nvPr/>
        </p:nvPicPr>
        <p:blipFill>
          <a:blip r:embed="rId9"/>
          <a:stretch>
            <a:fillRect/>
          </a:stretch>
        </p:blipFill>
        <p:spPr>
          <a:xfrm>
            <a:off x="1314417" y="2533587"/>
            <a:ext cx="133347" cy="133347"/>
          </a:xfrm>
          <a:prstGeom prst="rect">
            <a:avLst/>
          </a:prstGeom>
        </p:spPr>
      </p:pic>
      <p:sp>
        <p:nvSpPr>
          <p:cNvPr id="11" name="Text 2"/>
          <p:cNvSpPr/>
          <p:nvPr/>
        </p:nvSpPr>
        <p:spPr>
          <a:xfrm>
            <a:off x="1685883" y="2409765"/>
            <a:ext cx="4104792" cy="228594"/>
          </a:xfrm>
          <a:prstGeom prst="rect">
            <a:avLst/>
          </a:prstGeom>
          <a:noFill/>
          <a:ln/>
        </p:spPr>
        <p:txBody>
          <a:bodyPr wrap="none" lIns="0" tIns="0" rIns="0" bIns="0" rtlCol="0" anchor="ctr"/>
          <a:lstStyle/>
          <a:p>
            <a:pPr marL="0" indent="0" algn="l">
              <a:buNone/>
            </a:pPr>
            <a:r>
              <a:rPr lang="en-US" sz="1200" b="1" dirty="0">
                <a:solidFill>
                  <a:srgbClr val="0F172A"/>
                </a:solidFill>
                <a:latin typeface="Arial" pitchFamily="34" charset="0"/>
                <a:ea typeface="Arial" pitchFamily="34" charset="-122"/>
                <a:cs typeface="Arial" pitchFamily="34" charset="-120"/>
              </a:rPr>
              <a:t>硬件验证成果</a:t>
            </a:r>
            <a:endParaRPr lang="en-US" sz="1200" dirty="0"/>
          </a:p>
        </p:txBody>
      </p:sp>
      <p:sp>
        <p:nvSpPr>
          <p:cNvPr id="12" name="Text 3"/>
          <p:cNvSpPr/>
          <p:nvPr/>
        </p:nvSpPr>
        <p:spPr>
          <a:xfrm>
            <a:off x="1685883" y="2714557"/>
            <a:ext cx="4104792" cy="495288"/>
          </a:xfrm>
          <a:prstGeom prst="rect">
            <a:avLst/>
          </a:prstGeom>
          <a:noFill/>
          <a:ln/>
        </p:spPr>
        <p:txBody>
          <a:bodyPr wrap="square" lIns="0" tIns="0" rIns="0" bIns="0" rtlCol="0" anchor="ctr"/>
          <a:lstStyle/>
          <a:p>
            <a:pPr marL="0" indent="0" algn="l">
              <a:buNone/>
            </a:pPr>
            <a:r>
              <a:rPr lang="en-US" sz="1200" b="1" dirty="0">
                <a:solidFill>
                  <a:srgbClr val="4338CA"/>
                </a:solidFill>
                <a:latin typeface="Arial" pitchFamily="34" charset="0"/>
                <a:ea typeface="Arial" pitchFamily="34" charset="-122"/>
                <a:cs typeface="Arial" pitchFamily="34" charset="-120"/>
              </a:rPr>
              <a:t>8量子比特</a:t>
            </a:r>
            <a:r>
              <a:rPr lang="en-US" sz="1200" dirty="0">
                <a:solidFill>
                  <a:srgbClr val="334155"/>
                </a:solidFill>
                <a:latin typeface="Arial" pitchFamily="34" charset="0"/>
                <a:ea typeface="Arial" pitchFamily="34" charset="-122"/>
                <a:cs typeface="Arial" pitchFamily="34" charset="-120"/>
              </a:rPr>
              <a:t>系统在噪声硬件上实现了化学精度的基态能量计算（如H₂O），验证了量子-机器学习协同框架的可行性。</a:t>
            </a:r>
            <a:endParaRPr lang="en-US" sz="1200" dirty="0"/>
          </a:p>
        </p:txBody>
      </p:sp>
      <p:pic>
        <p:nvPicPr>
          <p:cNvPr id="13" name="Image 7" descr="preencoded.png"/>
          <p:cNvPicPr>
            <a:picLocks noChangeAspect="1"/>
          </p:cNvPicPr>
          <p:nvPr/>
        </p:nvPicPr>
        <p:blipFill>
          <a:blip r:embed="rId8"/>
          <a:stretch>
            <a:fillRect/>
          </a:stretch>
        </p:blipFill>
        <p:spPr>
          <a:xfrm>
            <a:off x="1228694" y="3476538"/>
            <a:ext cx="304792" cy="304792"/>
          </a:xfrm>
          <a:prstGeom prst="rect">
            <a:avLst/>
          </a:prstGeom>
        </p:spPr>
      </p:pic>
      <p:pic>
        <p:nvPicPr>
          <p:cNvPr id="14" name="Image 8" descr="preencoded.png"/>
          <p:cNvPicPr>
            <a:picLocks noChangeAspect="1"/>
          </p:cNvPicPr>
          <p:nvPr/>
        </p:nvPicPr>
        <p:blipFill>
          <a:blip r:embed="rId10"/>
          <a:stretch>
            <a:fillRect/>
          </a:stretch>
        </p:blipFill>
        <p:spPr>
          <a:xfrm>
            <a:off x="1314417" y="3562261"/>
            <a:ext cx="133347" cy="133347"/>
          </a:xfrm>
          <a:prstGeom prst="rect">
            <a:avLst/>
          </a:prstGeom>
        </p:spPr>
      </p:pic>
      <p:sp>
        <p:nvSpPr>
          <p:cNvPr id="15" name="Text 4"/>
          <p:cNvSpPr/>
          <p:nvPr/>
        </p:nvSpPr>
        <p:spPr>
          <a:xfrm>
            <a:off x="1685883" y="3438439"/>
            <a:ext cx="4104792" cy="228594"/>
          </a:xfrm>
          <a:prstGeom prst="rect">
            <a:avLst/>
          </a:prstGeom>
          <a:noFill/>
          <a:ln/>
        </p:spPr>
        <p:txBody>
          <a:bodyPr wrap="none" lIns="0" tIns="0" rIns="0" bIns="0" rtlCol="0" anchor="ctr"/>
          <a:lstStyle/>
          <a:p>
            <a:pPr marL="0" indent="0" algn="l">
              <a:buNone/>
            </a:pPr>
            <a:r>
              <a:rPr lang="en-US" sz="1200" b="1" dirty="0">
                <a:solidFill>
                  <a:srgbClr val="0F172A"/>
                </a:solidFill>
                <a:latin typeface="Arial" pitchFamily="34" charset="0"/>
                <a:ea typeface="Arial" pitchFamily="34" charset="-122"/>
                <a:cs typeface="Arial" pitchFamily="34" charset="-120"/>
              </a:rPr>
              <a:t>核心价值定位</a:t>
            </a:r>
            <a:endParaRPr lang="en-US" sz="1200" dirty="0"/>
          </a:p>
        </p:txBody>
      </p:sp>
      <p:sp>
        <p:nvSpPr>
          <p:cNvPr id="16" name="Text 5"/>
          <p:cNvSpPr/>
          <p:nvPr/>
        </p:nvSpPr>
        <p:spPr>
          <a:xfrm>
            <a:off x="1685883" y="3743231"/>
            <a:ext cx="4104792"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为未来更大规模的生物分子模拟奠定算法与误差控制基础，而非直接解决实际问题。</a:t>
            </a:r>
            <a:endParaRPr lang="en-US" sz="1200" dirty="0"/>
          </a:p>
        </p:txBody>
      </p:sp>
      <p:pic>
        <p:nvPicPr>
          <p:cNvPr id="17" name="Image 9" descr="preencoded.png"/>
          <p:cNvPicPr>
            <a:picLocks noChangeAspect="1"/>
          </p:cNvPicPr>
          <p:nvPr/>
        </p:nvPicPr>
        <p:blipFill>
          <a:blip r:embed="rId11"/>
          <a:stretch>
            <a:fillRect/>
          </a:stretch>
        </p:blipFill>
        <p:spPr>
          <a:xfrm>
            <a:off x="1228694" y="5467213"/>
            <a:ext cx="4552836" cy="542911"/>
          </a:xfrm>
          <a:prstGeom prst="rect">
            <a:avLst/>
          </a:prstGeom>
        </p:spPr>
      </p:pic>
      <p:sp>
        <p:nvSpPr>
          <p:cNvPr id="18" name="Text 6"/>
          <p:cNvSpPr/>
          <p:nvPr/>
        </p:nvSpPr>
        <p:spPr>
          <a:xfrm>
            <a:off x="1228694" y="5762481"/>
            <a:ext cx="571105" cy="190495"/>
          </a:xfrm>
          <a:prstGeom prst="rect">
            <a:avLst/>
          </a:prstGeom>
          <a:noFill/>
          <a:ln/>
        </p:spPr>
        <p:txBody>
          <a:bodyPr wrap="none" lIns="0" tIns="0" rIns="0" bIns="0" rtlCol="0" anchor="ctr"/>
          <a:lstStyle/>
          <a:p>
            <a:pPr marL="0" indent="0" algn="l">
              <a:buNone/>
            </a:pPr>
            <a:r>
              <a:rPr lang="en-US" sz="1050" dirty="0">
                <a:solidFill>
                  <a:srgbClr val="64748B"/>
                </a:solidFill>
                <a:latin typeface="Arial" pitchFamily="34" charset="0"/>
                <a:ea typeface="Arial" pitchFamily="34" charset="-122"/>
                <a:cs typeface="Arial" pitchFamily="34" charset="-120"/>
              </a:rPr>
              <a:t>当前规模</a:t>
            </a:r>
            <a:endParaRPr lang="en-US" sz="1050" dirty="0"/>
          </a:p>
        </p:txBody>
      </p:sp>
      <p:sp>
        <p:nvSpPr>
          <p:cNvPr id="19" name="Text 7"/>
          <p:cNvSpPr/>
          <p:nvPr/>
        </p:nvSpPr>
        <p:spPr>
          <a:xfrm>
            <a:off x="1904952" y="5705332"/>
            <a:ext cx="847323" cy="304792"/>
          </a:xfrm>
          <a:prstGeom prst="rect">
            <a:avLst/>
          </a:prstGeom>
          <a:noFill/>
          <a:ln/>
        </p:spPr>
        <p:txBody>
          <a:bodyPr wrap="none" lIns="0" tIns="0" rIns="0" bIns="0" rtlCol="0" anchor="ctr"/>
          <a:lstStyle/>
          <a:p>
            <a:pPr marL="0" indent="0" algn="l">
              <a:buNone/>
            </a:pPr>
            <a:r>
              <a:rPr lang="en-US" sz="1800" b="1" dirty="0">
                <a:solidFill>
                  <a:srgbClr val="4338CA"/>
                </a:solidFill>
                <a:latin typeface="Arial" pitchFamily="34" charset="0"/>
                <a:ea typeface="Arial" pitchFamily="34" charset="-122"/>
                <a:cs typeface="Arial" pitchFamily="34" charset="-120"/>
              </a:rPr>
              <a:t>8 Qubits</a:t>
            </a:r>
            <a:endParaRPr lang="en-US" sz="1800" dirty="0"/>
          </a:p>
        </p:txBody>
      </p:sp>
      <p:pic>
        <p:nvPicPr>
          <p:cNvPr id="20" name="Image 10" descr="preencoded.png"/>
          <p:cNvPicPr>
            <a:picLocks noChangeAspect="1"/>
          </p:cNvPicPr>
          <p:nvPr/>
        </p:nvPicPr>
        <p:blipFill>
          <a:blip r:embed="rId6"/>
          <a:stretch>
            <a:fillRect/>
          </a:stretch>
        </p:blipFill>
        <p:spPr>
          <a:xfrm>
            <a:off x="6400640" y="1409665"/>
            <a:ext cx="457189" cy="457189"/>
          </a:xfrm>
          <a:prstGeom prst="rect">
            <a:avLst/>
          </a:prstGeom>
        </p:spPr>
      </p:pic>
      <p:pic>
        <p:nvPicPr>
          <p:cNvPr id="21" name="Image 11" descr="preencoded.png"/>
          <p:cNvPicPr>
            <a:picLocks noChangeAspect="1"/>
          </p:cNvPicPr>
          <p:nvPr/>
        </p:nvPicPr>
        <p:blipFill>
          <a:blip r:embed="rId12"/>
          <a:stretch>
            <a:fillRect/>
          </a:stretch>
        </p:blipFill>
        <p:spPr>
          <a:xfrm>
            <a:off x="6533987" y="1543011"/>
            <a:ext cx="190495" cy="190495"/>
          </a:xfrm>
          <a:prstGeom prst="rect">
            <a:avLst/>
          </a:prstGeom>
        </p:spPr>
      </p:pic>
      <p:sp>
        <p:nvSpPr>
          <p:cNvPr id="22" name="Text 8"/>
          <p:cNvSpPr/>
          <p:nvPr/>
        </p:nvSpPr>
        <p:spPr>
          <a:xfrm>
            <a:off x="7010225" y="1485863"/>
            <a:ext cx="1352135" cy="304792"/>
          </a:xfrm>
          <a:prstGeom prst="rect">
            <a:avLst/>
          </a:prstGeom>
          <a:noFill/>
          <a:ln/>
        </p:spPr>
        <p:txBody>
          <a:bodyPr wrap="none" lIns="0" tIns="0" rIns="0" bIns="0" rtlCol="0" anchor="ctr"/>
          <a:lstStyle/>
          <a:p>
            <a:pPr marL="0" indent="0" algn="l">
              <a:buNone/>
            </a:pPr>
            <a:r>
              <a:rPr lang="en-US" sz="1800" b="1" dirty="0">
                <a:solidFill>
                  <a:srgbClr val="0F172A"/>
                </a:solidFill>
                <a:latin typeface="Arial" pitchFamily="34" charset="0"/>
                <a:ea typeface="Arial" pitchFamily="34" charset="-122"/>
                <a:cs typeface="Arial" pitchFamily="34" charset="-120"/>
              </a:rPr>
              <a:t>未来发展路径</a:t>
            </a:r>
            <a:endParaRPr lang="en-US" sz="1800" dirty="0"/>
          </a:p>
        </p:txBody>
      </p:sp>
      <p:pic>
        <p:nvPicPr>
          <p:cNvPr id="23" name="Image 12" descr="preencoded.png"/>
          <p:cNvPicPr>
            <a:picLocks noChangeAspect="1"/>
          </p:cNvPicPr>
          <p:nvPr/>
        </p:nvPicPr>
        <p:blipFill>
          <a:blip r:embed="rId13"/>
          <a:stretch>
            <a:fillRect/>
          </a:stretch>
        </p:blipFill>
        <p:spPr>
          <a:xfrm>
            <a:off x="6400640" y="2133547"/>
            <a:ext cx="5181470" cy="1238219"/>
          </a:xfrm>
          <a:prstGeom prst="rect">
            <a:avLst/>
          </a:prstGeom>
        </p:spPr>
      </p:pic>
      <p:pic>
        <p:nvPicPr>
          <p:cNvPr id="24" name="Image 13" descr="preencoded.png"/>
          <p:cNvPicPr>
            <a:picLocks noChangeAspect="1"/>
          </p:cNvPicPr>
          <p:nvPr/>
        </p:nvPicPr>
        <p:blipFill>
          <a:blip r:embed="rId14"/>
          <a:stretch>
            <a:fillRect/>
          </a:stretch>
        </p:blipFill>
        <p:spPr>
          <a:xfrm>
            <a:off x="6600660" y="2333567"/>
            <a:ext cx="380990" cy="380990"/>
          </a:xfrm>
          <a:prstGeom prst="rect">
            <a:avLst/>
          </a:prstGeom>
        </p:spPr>
      </p:pic>
      <p:pic>
        <p:nvPicPr>
          <p:cNvPr id="25" name="Image 14" descr="preencoded.png"/>
          <p:cNvPicPr>
            <a:picLocks noChangeAspect="1"/>
          </p:cNvPicPr>
          <p:nvPr/>
        </p:nvPicPr>
        <p:blipFill>
          <a:blip r:embed="rId15"/>
          <a:stretch>
            <a:fillRect/>
          </a:stretch>
        </p:blipFill>
        <p:spPr>
          <a:xfrm>
            <a:off x="6724482" y="2447864"/>
            <a:ext cx="133347" cy="152396"/>
          </a:xfrm>
          <a:prstGeom prst="rect">
            <a:avLst/>
          </a:prstGeom>
        </p:spPr>
      </p:pic>
      <p:sp>
        <p:nvSpPr>
          <p:cNvPr id="26" name="Text 9"/>
          <p:cNvSpPr/>
          <p:nvPr/>
        </p:nvSpPr>
        <p:spPr>
          <a:xfrm>
            <a:off x="7134047" y="2333567"/>
            <a:ext cx="4257188" cy="266693"/>
          </a:xfrm>
          <a:prstGeom prst="rect">
            <a:avLst/>
          </a:prstGeom>
          <a:noFill/>
          <a:ln/>
        </p:spPr>
        <p:txBody>
          <a:bodyPr wrap="none" lIns="0" tIns="0" rIns="0" bIns="0" rtlCol="0" anchor="ctr"/>
          <a:lstStyle/>
          <a:p>
            <a:pPr marL="0" indent="0" algn="l">
              <a:buNone/>
            </a:pPr>
            <a:r>
              <a:rPr lang="en-US" sz="1350" b="1" dirty="0">
                <a:solidFill>
                  <a:srgbClr val="0F172A"/>
                </a:solidFill>
                <a:latin typeface="Arial" pitchFamily="34" charset="0"/>
                <a:ea typeface="Arial" pitchFamily="34" charset="-122"/>
                <a:cs typeface="Arial" pitchFamily="34" charset="-120"/>
              </a:rPr>
              <a:t>硬件规模扩展</a:t>
            </a:r>
            <a:endParaRPr lang="en-US" sz="1350" dirty="0"/>
          </a:p>
        </p:txBody>
      </p:sp>
      <p:sp>
        <p:nvSpPr>
          <p:cNvPr id="27" name="Text 10"/>
          <p:cNvSpPr/>
          <p:nvPr/>
        </p:nvSpPr>
        <p:spPr>
          <a:xfrm>
            <a:off x="7134047" y="2676458"/>
            <a:ext cx="4257188"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从</a:t>
            </a:r>
            <a:r>
              <a:rPr lang="en-US" sz="1200" b="1" dirty="0">
                <a:solidFill>
                  <a:srgbClr val="4338CA"/>
                </a:solidFill>
                <a:latin typeface="Arial" pitchFamily="34" charset="0"/>
                <a:ea typeface="Arial" pitchFamily="34" charset="-122"/>
                <a:cs typeface="Arial" pitchFamily="34" charset="-120"/>
              </a:rPr>
              <a:t>8量子比特</a:t>
            </a:r>
            <a:r>
              <a:rPr lang="en-US" sz="1200" dirty="0">
                <a:solidFill>
                  <a:srgbClr val="334155"/>
                </a:solidFill>
                <a:latin typeface="Arial" pitchFamily="34" charset="0"/>
                <a:ea typeface="Arial" pitchFamily="34" charset="-122"/>
                <a:cs typeface="Arial" pitchFamily="34" charset="-120"/>
              </a:rPr>
              <a:t>扩展至</a:t>
            </a:r>
            <a:r>
              <a:rPr lang="en-US" sz="1200" b="1" dirty="0">
                <a:solidFill>
                  <a:srgbClr val="4338CA"/>
                </a:solidFill>
                <a:latin typeface="Arial" pitchFamily="34" charset="0"/>
                <a:ea typeface="Arial" pitchFamily="34" charset="-122"/>
                <a:cs typeface="Arial" pitchFamily="34" charset="-120"/>
              </a:rPr>
              <a:t>百比特乃至千比特</a:t>
            </a:r>
            <a:r>
              <a:rPr lang="en-US" sz="1200" dirty="0">
                <a:solidFill>
                  <a:srgbClr val="334155"/>
                </a:solidFill>
                <a:latin typeface="Arial" pitchFamily="34" charset="0"/>
                <a:ea typeface="Arial" pitchFamily="34" charset="-122"/>
                <a:cs typeface="Arial" pitchFamily="34" charset="-120"/>
              </a:rPr>
              <a:t>规模，是模拟真实生物大分子（如蛋白质活性位点）的先决条件。</a:t>
            </a:r>
            <a:endParaRPr lang="en-US" sz="1200" dirty="0"/>
          </a:p>
        </p:txBody>
      </p:sp>
      <p:pic>
        <p:nvPicPr>
          <p:cNvPr id="28" name="Image 15" descr="preencoded.png"/>
          <p:cNvPicPr>
            <a:picLocks noChangeAspect="1"/>
          </p:cNvPicPr>
          <p:nvPr/>
        </p:nvPicPr>
        <p:blipFill>
          <a:blip r:embed="rId13"/>
          <a:stretch>
            <a:fillRect/>
          </a:stretch>
        </p:blipFill>
        <p:spPr>
          <a:xfrm>
            <a:off x="6400640" y="3562261"/>
            <a:ext cx="5181470" cy="1238219"/>
          </a:xfrm>
          <a:prstGeom prst="rect">
            <a:avLst/>
          </a:prstGeom>
        </p:spPr>
      </p:pic>
      <p:pic>
        <p:nvPicPr>
          <p:cNvPr id="29" name="Image 16" descr="preencoded.png"/>
          <p:cNvPicPr>
            <a:picLocks noChangeAspect="1"/>
          </p:cNvPicPr>
          <p:nvPr/>
        </p:nvPicPr>
        <p:blipFill>
          <a:blip r:embed="rId14"/>
          <a:stretch>
            <a:fillRect/>
          </a:stretch>
        </p:blipFill>
        <p:spPr>
          <a:xfrm>
            <a:off x="6600660" y="3762281"/>
            <a:ext cx="380990" cy="380990"/>
          </a:xfrm>
          <a:prstGeom prst="rect">
            <a:avLst/>
          </a:prstGeom>
        </p:spPr>
      </p:pic>
      <p:pic>
        <p:nvPicPr>
          <p:cNvPr id="30" name="Image 17" descr="preencoded.png"/>
          <p:cNvPicPr>
            <a:picLocks noChangeAspect="1"/>
          </p:cNvPicPr>
          <p:nvPr/>
        </p:nvPicPr>
        <p:blipFill>
          <a:blip r:embed="rId16"/>
          <a:stretch>
            <a:fillRect/>
          </a:stretch>
        </p:blipFill>
        <p:spPr>
          <a:xfrm>
            <a:off x="6714957" y="3876578"/>
            <a:ext cx="152396" cy="152396"/>
          </a:xfrm>
          <a:prstGeom prst="rect">
            <a:avLst/>
          </a:prstGeom>
        </p:spPr>
      </p:pic>
      <p:sp>
        <p:nvSpPr>
          <p:cNvPr id="31" name="Text 11"/>
          <p:cNvSpPr/>
          <p:nvPr/>
        </p:nvSpPr>
        <p:spPr>
          <a:xfrm>
            <a:off x="7134047" y="3762281"/>
            <a:ext cx="4257188" cy="266693"/>
          </a:xfrm>
          <a:prstGeom prst="rect">
            <a:avLst/>
          </a:prstGeom>
          <a:noFill/>
          <a:ln/>
        </p:spPr>
        <p:txBody>
          <a:bodyPr wrap="none" lIns="0" tIns="0" rIns="0" bIns="0" rtlCol="0" anchor="ctr"/>
          <a:lstStyle/>
          <a:p>
            <a:pPr marL="0" indent="0" algn="l">
              <a:buNone/>
            </a:pPr>
            <a:r>
              <a:rPr lang="en-US" sz="1350" b="1" dirty="0">
                <a:solidFill>
                  <a:srgbClr val="0F172A"/>
                </a:solidFill>
                <a:latin typeface="Arial" pitchFamily="34" charset="0"/>
                <a:ea typeface="Arial" pitchFamily="34" charset="-122"/>
                <a:cs typeface="Arial" pitchFamily="34" charset="-120"/>
              </a:rPr>
              <a:t>误差缓解技术深化</a:t>
            </a:r>
            <a:endParaRPr lang="en-US" sz="1350" dirty="0"/>
          </a:p>
        </p:txBody>
      </p:sp>
      <p:sp>
        <p:nvSpPr>
          <p:cNvPr id="32" name="Text 12"/>
          <p:cNvSpPr/>
          <p:nvPr/>
        </p:nvSpPr>
        <p:spPr>
          <a:xfrm>
            <a:off x="7134047" y="4105172"/>
            <a:ext cx="4257188"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开发更高效的噪声抑制、错误校正和对称性验证技术，以提升当前NISQ设备的计算保真度。</a:t>
            </a:r>
            <a:endParaRPr lang="en-US" sz="1200" dirty="0"/>
          </a:p>
        </p:txBody>
      </p:sp>
      <p:pic>
        <p:nvPicPr>
          <p:cNvPr id="33" name="Image 18" descr="preencoded.png"/>
          <p:cNvPicPr>
            <a:picLocks noChangeAspect="1"/>
          </p:cNvPicPr>
          <p:nvPr/>
        </p:nvPicPr>
        <p:blipFill>
          <a:blip r:embed="rId13"/>
          <a:stretch>
            <a:fillRect/>
          </a:stretch>
        </p:blipFill>
        <p:spPr>
          <a:xfrm>
            <a:off x="6400640" y="4990975"/>
            <a:ext cx="5181470" cy="1238219"/>
          </a:xfrm>
          <a:prstGeom prst="rect">
            <a:avLst/>
          </a:prstGeom>
        </p:spPr>
      </p:pic>
      <p:pic>
        <p:nvPicPr>
          <p:cNvPr id="34" name="Image 19" descr="preencoded.png"/>
          <p:cNvPicPr>
            <a:picLocks noChangeAspect="1"/>
          </p:cNvPicPr>
          <p:nvPr/>
        </p:nvPicPr>
        <p:blipFill>
          <a:blip r:embed="rId14"/>
          <a:stretch>
            <a:fillRect/>
          </a:stretch>
        </p:blipFill>
        <p:spPr>
          <a:xfrm>
            <a:off x="6600660" y="5190995"/>
            <a:ext cx="380990" cy="380990"/>
          </a:xfrm>
          <a:prstGeom prst="rect">
            <a:avLst/>
          </a:prstGeom>
        </p:spPr>
      </p:pic>
      <p:pic>
        <p:nvPicPr>
          <p:cNvPr id="35" name="Image 20" descr="preencoded.png"/>
          <p:cNvPicPr>
            <a:picLocks noChangeAspect="1"/>
          </p:cNvPicPr>
          <p:nvPr/>
        </p:nvPicPr>
        <p:blipFill>
          <a:blip r:embed="rId17"/>
          <a:stretch>
            <a:fillRect/>
          </a:stretch>
        </p:blipFill>
        <p:spPr>
          <a:xfrm>
            <a:off x="6714957" y="5305292"/>
            <a:ext cx="152396" cy="152396"/>
          </a:xfrm>
          <a:prstGeom prst="rect">
            <a:avLst/>
          </a:prstGeom>
        </p:spPr>
      </p:pic>
      <p:sp>
        <p:nvSpPr>
          <p:cNvPr id="36" name="Text 13"/>
          <p:cNvSpPr/>
          <p:nvPr/>
        </p:nvSpPr>
        <p:spPr>
          <a:xfrm>
            <a:off x="7134047" y="5190995"/>
            <a:ext cx="4257188" cy="266693"/>
          </a:xfrm>
          <a:prstGeom prst="rect">
            <a:avLst/>
          </a:prstGeom>
          <a:noFill/>
          <a:ln/>
        </p:spPr>
        <p:txBody>
          <a:bodyPr wrap="none" lIns="0" tIns="0" rIns="0" bIns="0" rtlCol="0" anchor="ctr"/>
          <a:lstStyle/>
          <a:p>
            <a:pPr marL="0" indent="0" algn="l">
              <a:buNone/>
            </a:pPr>
            <a:r>
              <a:rPr lang="en-US" sz="1350" b="1" dirty="0">
                <a:solidFill>
                  <a:srgbClr val="0F172A"/>
                </a:solidFill>
                <a:latin typeface="Arial" pitchFamily="34" charset="0"/>
                <a:ea typeface="Arial" pitchFamily="34" charset="-122"/>
                <a:cs typeface="Arial" pitchFamily="34" charset="-120"/>
              </a:rPr>
              <a:t>多尺度融合算法</a:t>
            </a:r>
            <a:endParaRPr lang="en-US" sz="1350" dirty="0"/>
          </a:p>
        </p:txBody>
      </p:sp>
      <p:sp>
        <p:nvSpPr>
          <p:cNvPr id="37" name="Text 14"/>
          <p:cNvSpPr/>
          <p:nvPr/>
        </p:nvSpPr>
        <p:spPr>
          <a:xfrm>
            <a:off x="7134047" y="5533887"/>
            <a:ext cx="4257188" cy="495288"/>
          </a:xfrm>
          <a:prstGeom prst="rect">
            <a:avLst/>
          </a:prstGeom>
          <a:noFill/>
          <a:ln/>
        </p:spPr>
        <p:txBody>
          <a:bodyPr wrap="square" lIns="0" tIns="0" rIns="0" bIns="0" rtlCol="0" anchor="ctr"/>
          <a:lstStyle/>
          <a:p>
            <a:pPr marL="0" indent="0" algn="l">
              <a:buNone/>
            </a:pPr>
            <a:r>
              <a:rPr lang="en-US" sz="1200" dirty="0">
                <a:solidFill>
                  <a:srgbClr val="334155"/>
                </a:solidFill>
                <a:latin typeface="Arial" pitchFamily="34" charset="0"/>
                <a:ea typeface="Arial" pitchFamily="34" charset="-122"/>
                <a:cs typeface="Arial" pitchFamily="34" charset="-120"/>
              </a:rPr>
              <a:t>深化量子计算与经典计算、机器学习的融合，构建更高效的混合框架，以在有限量子资源下处理更大尺度的生物系统。</a:t>
            </a:r>
            <a:endParaRPr lang="en-US" sz="1200" dirty="0"/>
          </a:p>
        </p:txBody>
      </p:sp>
      <p:pic>
        <p:nvPicPr>
          <p:cNvPr id="38" name="Image 21" descr="preencoded.png"/>
          <p:cNvPicPr>
            <a:picLocks noChangeAspect="1"/>
          </p:cNvPicPr>
          <p:nvPr/>
        </p:nvPicPr>
        <p:blipFill>
          <a:blip r:embed="rId18">
            <a:alphaModFix amt="10000"/>
          </a:blip>
          <a:stretch>
            <a:fillRect/>
          </a:stretch>
        </p:blipFill>
        <p:spPr>
          <a:xfrm>
            <a:off x="10905852" y="5571986"/>
            <a:ext cx="904852" cy="90485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7829"/>
          </a:xfrm>
          <a:prstGeom prst="rect">
            <a:avLst/>
          </a:prstGeom>
        </p:spPr>
      </p:pic>
      <p:pic>
        <p:nvPicPr>
          <p:cNvPr id="3" name="Image 1" descr="preencoded.png"/>
          <p:cNvPicPr>
            <a:picLocks noChangeAspect="1"/>
          </p:cNvPicPr>
          <p:nvPr/>
        </p:nvPicPr>
        <p:blipFill>
          <a:blip r:embed="rId4"/>
          <a:stretch>
            <a:fillRect/>
          </a:stretch>
        </p:blipFill>
        <p:spPr>
          <a:xfrm>
            <a:off x="0" y="0"/>
            <a:ext cx="76198" cy="6857829"/>
          </a:xfrm>
          <a:prstGeom prst="rect">
            <a:avLst/>
          </a:prstGeom>
        </p:spPr>
      </p:pic>
      <p:sp>
        <p:nvSpPr>
          <p:cNvPr id="4" name="Text 0"/>
          <p:cNvSpPr/>
          <p:nvPr/>
        </p:nvSpPr>
        <p:spPr>
          <a:xfrm>
            <a:off x="761981" y="1666833"/>
            <a:ext cx="10829273" cy="571486"/>
          </a:xfrm>
          <a:prstGeom prst="rect">
            <a:avLst/>
          </a:prstGeom>
          <a:noFill/>
          <a:ln/>
        </p:spPr>
        <p:txBody>
          <a:bodyPr wrap="none" lIns="0" tIns="0" rIns="0" bIns="0" rtlCol="0" anchor="ctr"/>
          <a:lstStyle/>
          <a:p>
            <a:pPr marL="0" indent="0" algn="l">
              <a:buNone/>
            </a:pPr>
            <a:r>
              <a:rPr lang="en-US" sz="3000" b="1" dirty="0">
                <a:solidFill>
                  <a:srgbClr val="0F172A"/>
                </a:solidFill>
                <a:latin typeface="Arial" pitchFamily="34" charset="0"/>
                <a:ea typeface="Arial" pitchFamily="34" charset="-122"/>
                <a:cs typeface="Arial" pitchFamily="34" charset="-120"/>
              </a:rPr>
              <a:t>总结与展望</a:t>
            </a:r>
            <a:endParaRPr lang="en-US" sz="3000" dirty="0"/>
          </a:p>
        </p:txBody>
      </p:sp>
      <p:pic>
        <p:nvPicPr>
          <p:cNvPr id="5" name="Image 2" descr="preencoded.png"/>
          <p:cNvPicPr>
            <a:picLocks noChangeAspect="1"/>
          </p:cNvPicPr>
          <p:nvPr/>
        </p:nvPicPr>
        <p:blipFill>
          <a:blip r:embed="rId5"/>
          <a:stretch>
            <a:fillRect/>
          </a:stretch>
        </p:blipFill>
        <p:spPr>
          <a:xfrm>
            <a:off x="761981" y="2847904"/>
            <a:ext cx="8534187" cy="1142971"/>
          </a:xfrm>
          <a:prstGeom prst="rect">
            <a:avLst/>
          </a:prstGeom>
        </p:spPr>
      </p:pic>
      <p:sp>
        <p:nvSpPr>
          <p:cNvPr id="6" name="Text 1"/>
          <p:cNvSpPr/>
          <p:nvPr/>
        </p:nvSpPr>
        <p:spPr>
          <a:xfrm>
            <a:off x="1104872" y="3000300"/>
            <a:ext cx="8200439" cy="838179"/>
          </a:xfrm>
          <a:prstGeom prst="rect">
            <a:avLst/>
          </a:prstGeom>
          <a:noFill/>
          <a:ln/>
        </p:spPr>
        <p:txBody>
          <a:bodyPr wrap="square" lIns="0" tIns="0" rIns="0" bIns="0" rtlCol="0" anchor="ctr"/>
          <a:lstStyle/>
          <a:p>
            <a:pPr marL="0" indent="0" algn="l">
              <a:buNone/>
            </a:pPr>
            <a:r>
              <a:rPr lang="en-US" sz="2100" b="1" dirty="0">
                <a:solidFill>
                  <a:srgbClr val="4338CA"/>
                </a:solidFill>
                <a:latin typeface="Arial" pitchFamily="34" charset="0"/>
                <a:ea typeface="Arial" pitchFamily="34" charset="-122"/>
                <a:cs typeface="Arial" pitchFamily="34" charset="-120"/>
              </a:rPr>
              <a:t>8量子比特</a:t>
            </a:r>
            <a:r>
              <a:rPr lang="en-US" sz="1950" dirty="0">
                <a:solidFill>
                  <a:srgbClr val="0F172A"/>
                </a:solidFill>
                <a:latin typeface="Arial" pitchFamily="34" charset="0"/>
                <a:ea typeface="Arial" pitchFamily="34" charset="-122"/>
                <a:cs typeface="Arial" pitchFamily="34" charset="-120"/>
              </a:rPr>
              <a:t>生物分子模拟已在算法层面取得</a:t>
            </a:r>
            <a:r>
              <a:rPr lang="en-US" sz="1950" b="1" dirty="0">
                <a:solidFill>
                  <a:srgbClr val="0F172A"/>
                </a:solidFill>
                <a:latin typeface="Arial" pitchFamily="34" charset="0"/>
                <a:ea typeface="Arial" pitchFamily="34" charset="-122"/>
                <a:cs typeface="Arial" pitchFamily="34" charset="-120"/>
              </a:rPr>
              <a:t>原理性突破</a:t>
            </a:r>
            <a:r>
              <a:rPr lang="en-US" sz="1950" dirty="0">
                <a:solidFill>
                  <a:srgbClr val="0F172A"/>
                </a:solidFill>
                <a:latin typeface="Arial" pitchFamily="34" charset="0"/>
                <a:ea typeface="Arial" pitchFamily="34" charset="-122"/>
                <a:cs typeface="Arial" pitchFamily="34" charset="-120"/>
              </a:rPr>
              <a:t>，为未来高精度模拟肿瘤学微重力环境下的分子过程</a:t>
            </a:r>
            <a:r>
              <a:rPr lang="en-US" sz="1950" b="1" dirty="0">
                <a:solidFill>
                  <a:srgbClr val="0F172A"/>
                </a:solidFill>
                <a:latin typeface="Arial" pitchFamily="34" charset="0"/>
                <a:ea typeface="Arial" pitchFamily="34" charset="-122"/>
                <a:cs typeface="Arial" pitchFamily="34" charset="-120"/>
              </a:rPr>
              <a:t>奠定了基础</a:t>
            </a:r>
            <a:r>
              <a:rPr lang="en-US" sz="1950" dirty="0">
                <a:solidFill>
                  <a:srgbClr val="0F172A"/>
                </a:solidFill>
                <a:latin typeface="Arial" pitchFamily="34" charset="0"/>
                <a:ea typeface="Arial" pitchFamily="34" charset="-122"/>
                <a:cs typeface="Arial" pitchFamily="34" charset="-120"/>
              </a:rPr>
              <a:t>。</a:t>
            </a:r>
            <a:endParaRPr lang="en-US" sz="1950" dirty="0"/>
          </a:p>
        </p:txBody>
      </p:sp>
      <p:sp>
        <p:nvSpPr>
          <p:cNvPr id="7" name="Text 2"/>
          <p:cNvSpPr/>
          <p:nvPr/>
        </p:nvSpPr>
        <p:spPr>
          <a:xfrm>
            <a:off x="1066773" y="4448064"/>
            <a:ext cx="8238538" cy="685783"/>
          </a:xfrm>
          <a:prstGeom prst="rect">
            <a:avLst/>
          </a:prstGeom>
          <a:noFill/>
          <a:ln/>
        </p:spPr>
        <p:txBody>
          <a:bodyPr wrap="square" lIns="0" tIns="0" rIns="0" bIns="0" rtlCol="0" anchor="ctr"/>
          <a:lstStyle/>
          <a:p>
            <a:pPr marL="0" indent="0" algn="l">
              <a:buNone/>
            </a:pPr>
            <a:r>
              <a:rPr lang="en-US" sz="1650" dirty="0">
                <a:solidFill>
                  <a:srgbClr val="475569"/>
                </a:solidFill>
                <a:latin typeface="Arial" pitchFamily="34" charset="0"/>
                <a:ea typeface="Arial" pitchFamily="34" charset="-122"/>
                <a:cs typeface="Arial" pitchFamily="34" charset="-120"/>
              </a:rPr>
              <a:t>然而，从概念验证走向实际应用，仍需在</a:t>
            </a:r>
            <a:r>
              <a:rPr lang="en-US" sz="1650" b="1" dirty="0">
                <a:solidFill>
                  <a:srgbClr val="0F172A"/>
                </a:solidFill>
                <a:latin typeface="Arial" pitchFamily="34" charset="0"/>
                <a:ea typeface="Arial" pitchFamily="34" charset="-122"/>
                <a:cs typeface="Arial" pitchFamily="34" charset="-120"/>
              </a:rPr>
              <a:t>量子硬件规模</a:t>
            </a:r>
            <a:r>
              <a:rPr lang="en-US" sz="1650" dirty="0">
                <a:solidFill>
                  <a:srgbClr val="475569"/>
                </a:solidFill>
                <a:latin typeface="Arial" pitchFamily="34" charset="0"/>
                <a:ea typeface="Arial" pitchFamily="34" charset="-122"/>
                <a:cs typeface="Arial" pitchFamily="34" charset="-120"/>
              </a:rPr>
              <a:t>、</a:t>
            </a:r>
            <a:r>
              <a:rPr lang="en-US" sz="1650" b="1" dirty="0">
                <a:solidFill>
                  <a:srgbClr val="0F172A"/>
                </a:solidFill>
                <a:latin typeface="Arial" pitchFamily="34" charset="0"/>
                <a:ea typeface="Arial" pitchFamily="34" charset="-122"/>
                <a:cs typeface="Arial" pitchFamily="34" charset="-120"/>
              </a:rPr>
              <a:t>噪声控制</a:t>
            </a:r>
            <a:r>
              <a:rPr lang="en-US" sz="1650" dirty="0">
                <a:solidFill>
                  <a:srgbClr val="475569"/>
                </a:solidFill>
                <a:latin typeface="Arial" pitchFamily="34" charset="0"/>
                <a:ea typeface="Arial" pitchFamily="34" charset="-122"/>
                <a:cs typeface="Arial" pitchFamily="34" charset="-120"/>
              </a:rPr>
              <a:t>与</a:t>
            </a:r>
            <a:r>
              <a:rPr lang="en-US" sz="1650" b="1" dirty="0">
                <a:solidFill>
                  <a:srgbClr val="0F172A"/>
                </a:solidFill>
                <a:latin typeface="Arial" pitchFamily="34" charset="0"/>
                <a:ea typeface="Arial" pitchFamily="34" charset="-122"/>
                <a:cs typeface="Arial" pitchFamily="34" charset="-120"/>
              </a:rPr>
              <a:t>多尺度算法融合</a:t>
            </a:r>
            <a:r>
              <a:rPr lang="en-US" sz="1650" dirty="0">
                <a:solidFill>
                  <a:srgbClr val="475569"/>
                </a:solidFill>
                <a:latin typeface="Arial" pitchFamily="34" charset="0"/>
                <a:ea typeface="Arial" pitchFamily="34" charset="-122"/>
                <a:cs typeface="Arial" pitchFamily="34" charset="-120"/>
              </a:rPr>
              <a:t>上实现根本性突破。</a:t>
            </a:r>
            <a:endParaRPr lang="en-US" sz="1650" dirty="0"/>
          </a:p>
        </p:txBody>
      </p:sp>
      <p:pic>
        <p:nvPicPr>
          <p:cNvPr id="8" name="Image 3" descr="preencoded.png"/>
          <p:cNvPicPr>
            <a:picLocks noChangeAspect="1"/>
          </p:cNvPicPr>
          <p:nvPr/>
        </p:nvPicPr>
        <p:blipFill>
          <a:blip r:embed="rId6">
            <a:alphaModFix amt="10000"/>
          </a:blip>
          <a:stretch>
            <a:fillRect/>
          </a:stretch>
        </p:blipFill>
        <p:spPr>
          <a:xfrm>
            <a:off x="10515337" y="5181470"/>
            <a:ext cx="1085823" cy="108582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959</Words>
  <Application>Microsoft Office PowerPoint</Application>
  <PresentationFormat>宽屏</PresentationFormat>
  <Paragraphs>215</Paragraphs>
  <Slides>15</Slides>
  <Notes>15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等线</vt:lpstr>
      <vt:lpstr>Arial</vt:lpstr>
      <vt:lpstr>Calibri</vt:lpstr>
      <vt:lpstr>Calibri Light</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应用场景： De novo creation of a naked eye–detectable fluorescent molecule based on quantum chemical computation and machine learning</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Administrator</cp:lastModifiedBy>
  <cp:revision>3</cp:revision>
  <dcterms:created xsi:type="dcterms:W3CDTF">2026-06-18T03:49:07Z</dcterms:created>
  <dcterms:modified xsi:type="dcterms:W3CDTF">2026-07-15T07:38:46Z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00119144030071526726XG1MO2E","ProduceID":"Cjk2YTMzNjY2ODc2NzM2NzRjNzg0YjBjODkzNGYwZmZmNzY5ZmZfYmVvcjBsXzE3ODE3NTM0NDk0MTc","ReservedCode1":"0sNk0APmIT6J+UnswbQQOONxrgru5guaC9SfO/a2MGf45vHxzPQJx4nEM04a3L5VegWW6b/rlVcuK61jX+0Y9K8ibR8Tpji9LhFBUziTnUSwG4Um3XTrsB1OTAiyBvKHfsD8LOZrt+QFaA8EjqG52TkZTZN6c9QtF/34aOMsbak8BwWIuw6OlOA25+7VtBIJuHgLlQ==","ContentPropagator":"00119144030071526726XG1MO2E","PropagateID":"Cjk2YTMzNjY2ODc2NzM2NzRjNzg0YjBjODkzNGYwZmZmNzY5ZmZfYmVvcjBsXzE3ODE3NTM0NDk0MTc","ReservedCode2":"0sNk0APmIT6J+UnswbQQOONxrgru5guaC9SfO/a2MGf45vHxzPQJx4nEM04a3L5VegWW6b/rlVcuK61jX+0Y9K8ibR8Tpji9LhFBUziTnUSwG4Um3XTrsB1OTAiyBvKHfsD8LOZrt+QFaA8EjqG52TkZTZN6c9QtF/34aOMsbak8BwWIuw6OlOA25+7VtBIJuHgLlQ=="}</vt:lpwstr>
  </property>
</Properties>
</file>